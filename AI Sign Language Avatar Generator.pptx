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Alexandria Bold" charset="1" panose="00000000000000000000"/>
      <p:regular r:id="rId36"/>
    </p:embeddedFont>
    <p:embeddedFont>
      <p:font typeface="Garet" charset="1" panose="00000000000000000000"/>
      <p:regular r:id="rId37"/>
    </p:embeddedFont>
    <p:embeddedFont>
      <p:font typeface="Alexandria" charset="1" panose="00000000000000000000"/>
      <p:regular r:id="rId38"/>
    </p:embeddedFont>
    <p:embeddedFont>
      <p:font typeface="Cy Grotesk Grand" charset="1" panose="00000507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embeddings/oleObject2.bin" Type="http://schemas.openxmlformats.org/officeDocument/2006/relationships/oleObject"/><Relationship Id="rId4" Target="../media/image10.png" Type="http://schemas.openxmlformats.org/officeDocument/2006/relationships/image"/><Relationship Id="rId5" Target="../embeddings/oleObject3.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embeddings/oleObject4.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embeddings/oleObject5.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embeddings/oleObject6.bin" Type="http://schemas.openxmlformats.org/officeDocument/2006/relationships/oleObjec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3890343" y="5516388"/>
            <a:ext cx="4840370" cy="6758253"/>
          </a:xfrm>
          <a:custGeom>
            <a:avLst/>
            <a:gdLst/>
            <a:ahLst/>
            <a:cxnLst/>
            <a:rect r="r" b="b" t="t" l="l"/>
            <a:pathLst>
              <a:path h="6758253" w="4840370">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212327">
            <a:off x="-1633813"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2020970"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176744">
            <a:off x="12281842" y="-3234705"/>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2348517" y="-3496396"/>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668325" y="3808086"/>
            <a:ext cx="12951349" cy="2228215"/>
          </a:xfrm>
          <a:prstGeom prst="rect">
            <a:avLst/>
          </a:prstGeom>
        </p:spPr>
        <p:txBody>
          <a:bodyPr anchor="t" rtlCol="false" tIns="0" lIns="0" bIns="0" rIns="0">
            <a:spAutoFit/>
          </a:bodyPr>
          <a:lstStyle/>
          <a:p>
            <a:pPr algn="ctr">
              <a:lnSpc>
                <a:spcPts val="8959"/>
              </a:lnSpc>
            </a:pPr>
            <a:r>
              <a:rPr lang="en-US" b="true" sz="6399">
                <a:solidFill>
                  <a:srgbClr val="3F3D3E"/>
                </a:solidFill>
                <a:latin typeface="Alexandria Bold"/>
                <a:ea typeface="Alexandria Bold"/>
                <a:cs typeface="Alexandria Bold"/>
                <a:sym typeface="Alexandria Bold"/>
              </a:rPr>
              <a:t>AI SIGN LANGUAGE AVATAR GENERATOR</a:t>
            </a:r>
          </a:p>
        </p:txBody>
      </p:sp>
      <p:grpSp>
        <p:nvGrpSpPr>
          <p:cNvPr name="Group 9" id="9"/>
          <p:cNvGrpSpPr/>
          <p:nvPr/>
        </p:nvGrpSpPr>
        <p:grpSpPr>
          <a:xfrm rot="0">
            <a:off x="498068" y="6924269"/>
            <a:ext cx="7289635" cy="2918202"/>
            <a:chOff x="0" y="0"/>
            <a:chExt cx="1919904" cy="768580"/>
          </a:xfrm>
        </p:grpSpPr>
        <p:sp>
          <p:nvSpPr>
            <p:cNvPr name="Freeform 10" id="10"/>
            <p:cNvSpPr/>
            <p:nvPr/>
          </p:nvSpPr>
          <p:spPr>
            <a:xfrm flipH="false" flipV="false" rot="0">
              <a:off x="0" y="0"/>
              <a:ext cx="1919904" cy="768580"/>
            </a:xfrm>
            <a:custGeom>
              <a:avLst/>
              <a:gdLst/>
              <a:ahLst/>
              <a:cxnLst/>
              <a:rect r="r" b="b" t="t" l="l"/>
              <a:pathLst>
                <a:path h="768580" w="1919904">
                  <a:moveTo>
                    <a:pt x="60537" y="0"/>
                  </a:moveTo>
                  <a:lnTo>
                    <a:pt x="1859367" y="0"/>
                  </a:lnTo>
                  <a:cubicBezTo>
                    <a:pt x="1892801" y="0"/>
                    <a:pt x="1919904" y="27103"/>
                    <a:pt x="1919904" y="60537"/>
                  </a:cubicBezTo>
                  <a:lnTo>
                    <a:pt x="1919904" y="708043"/>
                  </a:lnTo>
                  <a:cubicBezTo>
                    <a:pt x="1919904" y="741477"/>
                    <a:pt x="1892801" y="768580"/>
                    <a:pt x="1859367" y="768580"/>
                  </a:cubicBezTo>
                  <a:lnTo>
                    <a:pt x="60537" y="768580"/>
                  </a:lnTo>
                  <a:cubicBezTo>
                    <a:pt x="27103" y="768580"/>
                    <a:pt x="0" y="741477"/>
                    <a:pt x="0" y="708043"/>
                  </a:cubicBezTo>
                  <a:lnTo>
                    <a:pt x="0" y="60537"/>
                  </a:lnTo>
                  <a:cubicBezTo>
                    <a:pt x="0" y="27103"/>
                    <a:pt x="27103" y="0"/>
                    <a:pt x="60537" y="0"/>
                  </a:cubicBezTo>
                  <a:close/>
                </a:path>
              </a:pathLst>
            </a:custGeom>
            <a:solidFill>
              <a:srgbClr val="545454"/>
            </a:solidFill>
            <a:ln w="38100" cap="rnd">
              <a:solidFill>
                <a:srgbClr val="545454"/>
              </a:solidFill>
              <a:prstDash val="solid"/>
              <a:round/>
            </a:ln>
          </p:spPr>
        </p:sp>
        <p:sp>
          <p:nvSpPr>
            <p:cNvPr name="TextBox 11" id="11"/>
            <p:cNvSpPr txBox="true"/>
            <p:nvPr/>
          </p:nvSpPr>
          <p:spPr>
            <a:xfrm>
              <a:off x="0" y="-38100"/>
              <a:ext cx="1919904" cy="806680"/>
            </a:xfrm>
            <a:prstGeom prst="rect">
              <a:avLst/>
            </a:prstGeom>
          </p:spPr>
          <p:txBody>
            <a:bodyPr anchor="ctr" rtlCol="false" tIns="50800" lIns="50800" bIns="50800" rIns="50800"/>
            <a:lstStyle/>
            <a:p>
              <a:pPr algn="ctr">
                <a:lnSpc>
                  <a:spcPts val="2897"/>
                </a:lnSpc>
              </a:pPr>
            </a:p>
          </p:txBody>
        </p:sp>
      </p:grpSp>
      <p:sp>
        <p:nvSpPr>
          <p:cNvPr name="TextBox 12" id="12"/>
          <p:cNvSpPr txBox="true"/>
          <p:nvPr/>
        </p:nvSpPr>
        <p:spPr>
          <a:xfrm rot="0">
            <a:off x="634652" y="7007882"/>
            <a:ext cx="7153051" cy="2693826"/>
          </a:xfrm>
          <a:prstGeom prst="rect">
            <a:avLst/>
          </a:prstGeom>
        </p:spPr>
        <p:txBody>
          <a:bodyPr anchor="t" rtlCol="false" tIns="0" lIns="0" bIns="0" rIns="0">
            <a:spAutoFit/>
          </a:bodyPr>
          <a:lstStyle/>
          <a:p>
            <a:pPr algn="ctr">
              <a:lnSpc>
                <a:spcPts val="4296"/>
              </a:lnSpc>
            </a:pPr>
            <a:r>
              <a:rPr lang="en-US" sz="3068">
                <a:solidFill>
                  <a:srgbClr val="E9E9E9"/>
                </a:solidFill>
                <a:latin typeface="Garet"/>
                <a:ea typeface="Garet"/>
                <a:cs typeface="Garet"/>
                <a:sym typeface="Garet"/>
              </a:rPr>
              <a:t>Group Members:</a:t>
            </a:r>
          </a:p>
          <a:p>
            <a:pPr algn="ctr">
              <a:lnSpc>
                <a:spcPts val="4296"/>
              </a:lnSpc>
            </a:pPr>
            <a:r>
              <a:rPr lang="en-US" sz="3068">
                <a:solidFill>
                  <a:srgbClr val="E9E9E9"/>
                </a:solidFill>
                <a:latin typeface="Garet"/>
                <a:ea typeface="Garet"/>
                <a:cs typeface="Garet"/>
                <a:sym typeface="Garet"/>
              </a:rPr>
              <a:t>Ganesh Atre(202201040068)</a:t>
            </a:r>
          </a:p>
          <a:p>
            <a:pPr algn="ctr">
              <a:lnSpc>
                <a:spcPts val="4296"/>
              </a:lnSpc>
            </a:pPr>
            <a:r>
              <a:rPr lang="en-US" sz="3068">
                <a:solidFill>
                  <a:srgbClr val="E9E9E9"/>
                </a:solidFill>
                <a:latin typeface="Garet"/>
                <a:ea typeface="Garet"/>
                <a:cs typeface="Garet"/>
                <a:sym typeface="Garet"/>
              </a:rPr>
              <a:t>Sahil Chalotra(202201040072)</a:t>
            </a:r>
          </a:p>
          <a:p>
            <a:pPr algn="ctr">
              <a:lnSpc>
                <a:spcPts val="4296"/>
              </a:lnSpc>
            </a:pPr>
            <a:r>
              <a:rPr lang="en-US" sz="3068">
                <a:solidFill>
                  <a:srgbClr val="E9E9E9"/>
                </a:solidFill>
                <a:latin typeface="Garet"/>
                <a:ea typeface="Garet"/>
                <a:cs typeface="Garet"/>
                <a:sym typeface="Garet"/>
              </a:rPr>
              <a:t>Siddhesh Kotwal (202201040095)</a:t>
            </a:r>
          </a:p>
          <a:p>
            <a:pPr algn="ctr">
              <a:lnSpc>
                <a:spcPts val="4296"/>
              </a:lnSpc>
              <a:spcBef>
                <a:spcPct val="0"/>
              </a:spcBef>
            </a:pPr>
            <a:r>
              <a:rPr lang="en-US" sz="3068">
                <a:solidFill>
                  <a:srgbClr val="E9E9E9"/>
                </a:solidFill>
                <a:latin typeface="Garet"/>
                <a:ea typeface="Garet"/>
                <a:cs typeface="Garet"/>
                <a:sym typeface="Garet"/>
              </a:rPr>
              <a:t>Dhiraj Mundane (202201040211)</a:t>
            </a:r>
          </a:p>
        </p:txBody>
      </p:sp>
      <p:sp>
        <p:nvSpPr>
          <p:cNvPr name="Freeform 13" id="13"/>
          <p:cNvSpPr/>
          <p:nvPr/>
        </p:nvSpPr>
        <p:spPr>
          <a:xfrm flipH="false" flipV="false" rot="0">
            <a:off x="4381500" y="736381"/>
            <a:ext cx="9525000" cy="1799152"/>
          </a:xfrm>
          <a:custGeom>
            <a:avLst/>
            <a:gdLst/>
            <a:ahLst/>
            <a:cxnLst/>
            <a:rect r="r" b="b" t="t" l="l"/>
            <a:pathLst>
              <a:path h="1799152" w="9525000">
                <a:moveTo>
                  <a:pt x="0" y="0"/>
                </a:moveTo>
                <a:lnTo>
                  <a:pt x="9525000" y="0"/>
                </a:lnTo>
                <a:lnTo>
                  <a:pt x="9525000" y="1799152"/>
                </a:lnTo>
                <a:lnTo>
                  <a:pt x="0" y="1799152"/>
                </a:lnTo>
                <a:lnTo>
                  <a:pt x="0" y="0"/>
                </a:lnTo>
                <a:close/>
              </a:path>
            </a:pathLst>
          </a:custGeom>
          <a:blipFill>
            <a:blip r:embed="rId8"/>
            <a:stretch>
              <a:fillRect l="0" t="0" r="-739" b="0"/>
            </a:stretch>
          </a:blipFill>
        </p:spPr>
      </p:sp>
      <p:sp>
        <p:nvSpPr>
          <p:cNvPr name="TextBox 14" id="14"/>
          <p:cNvSpPr txBox="true"/>
          <p:nvPr/>
        </p:nvSpPr>
        <p:spPr>
          <a:xfrm rot="0">
            <a:off x="3493371" y="2843561"/>
            <a:ext cx="11301259" cy="704123"/>
          </a:xfrm>
          <a:prstGeom prst="rect">
            <a:avLst/>
          </a:prstGeom>
        </p:spPr>
        <p:txBody>
          <a:bodyPr anchor="t" rtlCol="false" tIns="0" lIns="0" bIns="0" rIns="0">
            <a:spAutoFit/>
          </a:bodyPr>
          <a:lstStyle/>
          <a:p>
            <a:pPr algn="ctr">
              <a:lnSpc>
                <a:spcPts val="5815"/>
              </a:lnSpc>
              <a:spcBef>
                <a:spcPct val="0"/>
              </a:spcBef>
            </a:pPr>
            <a:r>
              <a:rPr lang="en-US" sz="4153">
                <a:solidFill>
                  <a:srgbClr val="203256"/>
                </a:solidFill>
                <a:latin typeface="Alexandria"/>
                <a:ea typeface="Alexandria"/>
                <a:cs typeface="Alexandria"/>
                <a:sym typeface="Alexandria"/>
              </a:rPr>
              <a:t>SCHOOL OF COMPUTER ENGINEERING </a:t>
            </a:r>
          </a:p>
        </p:txBody>
      </p:sp>
      <p:grpSp>
        <p:nvGrpSpPr>
          <p:cNvPr name="Group 15" id="15"/>
          <p:cNvGrpSpPr/>
          <p:nvPr/>
        </p:nvGrpSpPr>
        <p:grpSpPr>
          <a:xfrm rot="0">
            <a:off x="11260490" y="7436476"/>
            <a:ext cx="6541311" cy="2433057"/>
            <a:chOff x="0" y="0"/>
            <a:chExt cx="1722814" cy="640805"/>
          </a:xfrm>
        </p:grpSpPr>
        <p:sp>
          <p:nvSpPr>
            <p:cNvPr name="Freeform 16" id="16"/>
            <p:cNvSpPr/>
            <p:nvPr/>
          </p:nvSpPr>
          <p:spPr>
            <a:xfrm flipH="false" flipV="false" rot="0">
              <a:off x="0" y="0"/>
              <a:ext cx="1722814" cy="640805"/>
            </a:xfrm>
            <a:custGeom>
              <a:avLst/>
              <a:gdLst/>
              <a:ahLst/>
              <a:cxnLst/>
              <a:rect r="r" b="b" t="t" l="l"/>
              <a:pathLst>
                <a:path h="640805" w="1722814">
                  <a:moveTo>
                    <a:pt x="67462" y="0"/>
                  </a:moveTo>
                  <a:lnTo>
                    <a:pt x="1655352" y="0"/>
                  </a:lnTo>
                  <a:cubicBezTo>
                    <a:pt x="1692611" y="0"/>
                    <a:pt x="1722814" y="30204"/>
                    <a:pt x="1722814" y="67462"/>
                  </a:cubicBezTo>
                  <a:lnTo>
                    <a:pt x="1722814" y="573343"/>
                  </a:lnTo>
                  <a:cubicBezTo>
                    <a:pt x="1722814" y="610601"/>
                    <a:pt x="1692611" y="640805"/>
                    <a:pt x="1655352" y="640805"/>
                  </a:cubicBezTo>
                  <a:lnTo>
                    <a:pt x="67462" y="640805"/>
                  </a:lnTo>
                  <a:cubicBezTo>
                    <a:pt x="30204" y="640805"/>
                    <a:pt x="0" y="610601"/>
                    <a:pt x="0" y="573343"/>
                  </a:cubicBezTo>
                  <a:lnTo>
                    <a:pt x="0" y="67462"/>
                  </a:lnTo>
                  <a:cubicBezTo>
                    <a:pt x="0" y="30204"/>
                    <a:pt x="30204" y="0"/>
                    <a:pt x="67462" y="0"/>
                  </a:cubicBezTo>
                  <a:close/>
                </a:path>
              </a:pathLst>
            </a:custGeom>
            <a:solidFill>
              <a:srgbClr val="545454"/>
            </a:solidFill>
            <a:ln w="38100" cap="rnd">
              <a:solidFill>
                <a:srgbClr val="545454"/>
              </a:solidFill>
              <a:prstDash val="solid"/>
              <a:round/>
            </a:ln>
          </p:spPr>
        </p:sp>
        <p:sp>
          <p:nvSpPr>
            <p:cNvPr name="TextBox 17" id="17"/>
            <p:cNvSpPr txBox="true"/>
            <p:nvPr/>
          </p:nvSpPr>
          <p:spPr>
            <a:xfrm>
              <a:off x="0" y="-38100"/>
              <a:ext cx="1722814" cy="678905"/>
            </a:xfrm>
            <a:prstGeom prst="rect">
              <a:avLst/>
            </a:prstGeom>
          </p:spPr>
          <p:txBody>
            <a:bodyPr anchor="ctr" rtlCol="false" tIns="50800" lIns="50800" bIns="50800" rIns="50800"/>
            <a:lstStyle/>
            <a:p>
              <a:pPr algn="ctr">
                <a:lnSpc>
                  <a:spcPts val="2897"/>
                </a:lnSpc>
              </a:pPr>
            </a:p>
          </p:txBody>
        </p:sp>
      </p:grpSp>
      <p:sp>
        <p:nvSpPr>
          <p:cNvPr name="TextBox 18" id="18"/>
          <p:cNvSpPr txBox="true"/>
          <p:nvPr/>
        </p:nvSpPr>
        <p:spPr>
          <a:xfrm rot="0">
            <a:off x="11496386" y="7593174"/>
            <a:ext cx="6069519" cy="2150901"/>
          </a:xfrm>
          <a:prstGeom prst="rect">
            <a:avLst/>
          </a:prstGeom>
        </p:spPr>
        <p:txBody>
          <a:bodyPr anchor="t" rtlCol="false" tIns="0" lIns="0" bIns="0" rIns="0">
            <a:spAutoFit/>
          </a:bodyPr>
          <a:lstStyle/>
          <a:p>
            <a:pPr algn="ctr">
              <a:lnSpc>
                <a:spcPts val="4296"/>
              </a:lnSpc>
            </a:pPr>
            <a:r>
              <a:rPr lang="en-US" sz="3068">
                <a:solidFill>
                  <a:srgbClr val="E9E9E9"/>
                </a:solidFill>
                <a:latin typeface="Garet"/>
                <a:ea typeface="Garet"/>
                <a:cs typeface="Garet"/>
                <a:sym typeface="Garet"/>
              </a:rPr>
              <a:t>Guided By:</a:t>
            </a:r>
          </a:p>
          <a:p>
            <a:pPr algn="ctr">
              <a:lnSpc>
                <a:spcPts val="4296"/>
              </a:lnSpc>
            </a:pPr>
            <a:r>
              <a:rPr lang="en-US" sz="3068">
                <a:solidFill>
                  <a:srgbClr val="E9E9E9"/>
                </a:solidFill>
                <a:latin typeface="Garet"/>
                <a:ea typeface="Garet"/>
                <a:cs typeface="Garet"/>
                <a:sym typeface="Garet"/>
              </a:rPr>
              <a:t>Prof.Savita Mane</a:t>
            </a:r>
          </a:p>
          <a:p>
            <a:pPr algn="ctr">
              <a:lnSpc>
                <a:spcPts val="4296"/>
              </a:lnSpc>
              <a:spcBef>
                <a:spcPct val="0"/>
              </a:spcBef>
            </a:pPr>
            <a:r>
              <a:rPr lang="en-US" sz="3068">
                <a:solidFill>
                  <a:srgbClr val="E9E9E9"/>
                </a:solidFill>
                <a:latin typeface="Garet"/>
                <a:ea typeface="Garet"/>
                <a:cs typeface="Garet"/>
                <a:sym typeface="Garet"/>
              </a:rPr>
              <a:t>School Of Computer Engg. Engineering</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2668325" y="904875"/>
            <a:ext cx="12951349" cy="1094740"/>
          </a:xfrm>
          <a:prstGeom prst="rect">
            <a:avLst/>
          </a:prstGeom>
        </p:spPr>
        <p:txBody>
          <a:bodyPr anchor="t" rtlCol="false" tIns="0" lIns="0" bIns="0" rIns="0">
            <a:spAutoFit/>
          </a:bodyPr>
          <a:lstStyle/>
          <a:p>
            <a:pPr algn="ctr">
              <a:lnSpc>
                <a:spcPts val="8959"/>
              </a:lnSpc>
            </a:pPr>
            <a:r>
              <a:rPr lang="en-US" b="true" sz="6399">
                <a:solidFill>
                  <a:srgbClr val="3F3D3E"/>
                </a:solidFill>
                <a:latin typeface="Alexandria Bold"/>
                <a:ea typeface="Alexandria Bold"/>
                <a:cs typeface="Alexandria Bold"/>
                <a:sym typeface="Alexandria Bold"/>
              </a:rPr>
              <a:t>PROBLEM STATEMENT</a:t>
            </a:r>
          </a:p>
        </p:txBody>
      </p:sp>
      <p:sp>
        <p:nvSpPr>
          <p:cNvPr name="TextBox 3" id="3"/>
          <p:cNvSpPr txBox="true"/>
          <p:nvPr/>
        </p:nvSpPr>
        <p:spPr>
          <a:xfrm rot="0">
            <a:off x="1028700" y="3124200"/>
            <a:ext cx="16230600" cy="3962400"/>
          </a:xfrm>
          <a:prstGeom prst="rect">
            <a:avLst/>
          </a:prstGeom>
        </p:spPr>
        <p:txBody>
          <a:bodyPr anchor="t" rtlCol="false" tIns="0" lIns="0" bIns="0" rIns="0">
            <a:spAutoFit/>
          </a:bodyPr>
          <a:lstStyle/>
          <a:p>
            <a:pPr algn="ctr">
              <a:lnSpc>
                <a:spcPts val="6299"/>
              </a:lnSpc>
              <a:spcBef>
                <a:spcPct val="0"/>
              </a:spcBef>
            </a:pPr>
            <a:r>
              <a:rPr lang="en-US" sz="4500">
                <a:solidFill>
                  <a:srgbClr val="3F3D3E"/>
                </a:solidFill>
                <a:latin typeface="Alexandria"/>
                <a:ea typeface="Alexandria"/>
                <a:cs typeface="Alexandria"/>
                <a:sym typeface="Alexandria"/>
              </a:rPr>
              <a:t>Deaf and Hard-of-Hearing (HOH) individuals often face c</a:t>
            </a:r>
            <a:r>
              <a:rPr lang="en-US" sz="4500">
                <a:solidFill>
                  <a:srgbClr val="3F3D3E"/>
                </a:solidFill>
                <a:latin typeface="Alexandria"/>
                <a:ea typeface="Alexandria"/>
                <a:cs typeface="Alexandria"/>
                <a:sym typeface="Alexandria"/>
              </a:rPr>
              <a:t>ommunication barriers, and captions alone are not enough. A real-time AI avatar that translates speech or text into sign language can bridge this gap and promote inclusivity.</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6941993" y="904875"/>
            <a:ext cx="4384964" cy="1094741"/>
          </a:xfrm>
          <a:prstGeom prst="rect">
            <a:avLst/>
          </a:prstGeom>
        </p:spPr>
        <p:txBody>
          <a:bodyPr anchor="t" rtlCol="false" tIns="0" lIns="0" bIns="0" rIns="0">
            <a:spAutoFit/>
          </a:bodyPr>
          <a:lstStyle/>
          <a:p>
            <a:pPr algn="ctr">
              <a:lnSpc>
                <a:spcPts val="8959"/>
              </a:lnSpc>
            </a:pPr>
            <a:r>
              <a:rPr lang="en-US" b="true" sz="6399">
                <a:solidFill>
                  <a:srgbClr val="3F3D3E"/>
                </a:solidFill>
                <a:latin typeface="Alexandria Bold"/>
                <a:ea typeface="Alexandria Bold"/>
                <a:cs typeface="Alexandria Bold"/>
                <a:sym typeface="Alexandria Bold"/>
              </a:rPr>
              <a:t>Objectives</a:t>
            </a:r>
          </a:p>
        </p:txBody>
      </p:sp>
      <p:sp>
        <p:nvSpPr>
          <p:cNvPr name="TextBox 3" id="3"/>
          <p:cNvSpPr txBox="true"/>
          <p:nvPr/>
        </p:nvSpPr>
        <p:spPr>
          <a:xfrm rot="0">
            <a:off x="1177787" y="2677161"/>
            <a:ext cx="16230600" cy="6581139"/>
          </a:xfrm>
          <a:prstGeom prst="rect">
            <a:avLst/>
          </a:prstGeom>
        </p:spPr>
        <p:txBody>
          <a:bodyPr anchor="t" rtlCol="false" tIns="0" lIns="0" bIns="0" rIns="0">
            <a:spAutoFit/>
          </a:bodyPr>
          <a:lstStyle/>
          <a:p>
            <a:pPr algn="l" marL="734066" indent="-367033" lvl="1">
              <a:lnSpc>
                <a:spcPts val="4760"/>
              </a:lnSpc>
              <a:buFont typeface="Arial"/>
              <a:buChar char="•"/>
            </a:pPr>
            <a:r>
              <a:rPr lang="en-US" sz="3400">
                <a:solidFill>
                  <a:srgbClr val="3F3D3E"/>
                </a:solidFill>
                <a:latin typeface="Alexandria"/>
                <a:ea typeface="Alexandria"/>
                <a:cs typeface="Alexandria"/>
                <a:sym typeface="Alexandria"/>
              </a:rPr>
              <a:t>To develop a real-time AI avatar that translates text into American Sign Language (ASL).</a:t>
            </a:r>
          </a:p>
          <a:p>
            <a:pPr algn="l" marL="734066" indent="-367033" lvl="1">
              <a:lnSpc>
                <a:spcPts val="4760"/>
              </a:lnSpc>
              <a:buFont typeface="Arial"/>
              <a:buChar char="•"/>
            </a:pPr>
            <a:r>
              <a:rPr lang="en-US" sz="3400">
                <a:solidFill>
                  <a:srgbClr val="3F3D3E"/>
                </a:solidFill>
                <a:latin typeface="Alexandria"/>
                <a:ea typeface="Alexandria"/>
                <a:cs typeface="Alexandria"/>
                <a:sym typeface="Alexandria"/>
              </a:rPr>
              <a:t>To e</a:t>
            </a:r>
            <a:r>
              <a:rPr lang="en-US" sz="3400">
                <a:solidFill>
                  <a:srgbClr val="3F3D3E"/>
                </a:solidFill>
                <a:latin typeface="Alexandria"/>
                <a:ea typeface="Alexandria"/>
                <a:cs typeface="Alexandria"/>
                <a:sym typeface="Alexandria"/>
              </a:rPr>
              <a:t>nsure natural, smooth, and culturally accurate gesture generation.</a:t>
            </a:r>
          </a:p>
          <a:p>
            <a:pPr algn="l" marL="734066" indent="-367033" lvl="1">
              <a:lnSpc>
                <a:spcPts val="4760"/>
              </a:lnSpc>
              <a:spcBef>
                <a:spcPct val="0"/>
              </a:spcBef>
              <a:buFont typeface="Arial"/>
              <a:buChar char="•"/>
            </a:pPr>
            <a:r>
              <a:rPr lang="en-US" sz="3400">
                <a:solidFill>
                  <a:srgbClr val="3F3D3E"/>
                </a:solidFill>
                <a:latin typeface="Alexandria"/>
                <a:ea typeface="Alexandria"/>
                <a:cs typeface="Alexandria"/>
                <a:sym typeface="Alexandria"/>
              </a:rPr>
              <a:t>To s</a:t>
            </a:r>
            <a:r>
              <a:rPr lang="en-US" sz="3400">
                <a:solidFill>
                  <a:srgbClr val="3F3D3E"/>
                </a:solidFill>
                <a:latin typeface="Alexandria"/>
                <a:ea typeface="Alexandria"/>
                <a:cs typeface="Alexandria"/>
                <a:sym typeface="Alexandria"/>
              </a:rPr>
              <a:t>ynchr</a:t>
            </a:r>
            <a:r>
              <a:rPr lang="en-US" sz="3400">
                <a:solidFill>
                  <a:srgbClr val="3F3D3E"/>
                </a:solidFill>
                <a:latin typeface="Alexandria"/>
                <a:ea typeface="Alexandria"/>
                <a:cs typeface="Alexandria"/>
                <a:sym typeface="Alexandria"/>
              </a:rPr>
              <a:t>onize hand movements, facial expressions, and body posture for realistic communication.</a:t>
            </a:r>
          </a:p>
          <a:p>
            <a:pPr algn="l" marL="734066" indent="-367033" lvl="1">
              <a:lnSpc>
                <a:spcPts val="4760"/>
              </a:lnSpc>
              <a:spcBef>
                <a:spcPct val="0"/>
              </a:spcBef>
              <a:buFont typeface="Arial"/>
              <a:buChar char="•"/>
            </a:pPr>
            <a:r>
              <a:rPr lang="en-US" sz="3400">
                <a:solidFill>
                  <a:srgbClr val="3F3D3E"/>
                </a:solidFill>
                <a:latin typeface="Alexandria"/>
                <a:ea typeface="Alexandria"/>
                <a:cs typeface="Alexandria"/>
                <a:sym typeface="Alexandria"/>
              </a:rPr>
              <a:t>To m</a:t>
            </a:r>
            <a:r>
              <a:rPr lang="en-US" sz="3400">
                <a:solidFill>
                  <a:srgbClr val="3F3D3E"/>
                </a:solidFill>
                <a:latin typeface="Alexandria"/>
                <a:ea typeface="Alexandria"/>
                <a:cs typeface="Alexandria"/>
                <a:sym typeface="Alexandria"/>
              </a:rPr>
              <a:t>inimize latency for seamless real-time interaction.</a:t>
            </a:r>
          </a:p>
          <a:p>
            <a:pPr algn="l" marL="734066" indent="-367033" lvl="1">
              <a:lnSpc>
                <a:spcPts val="4760"/>
              </a:lnSpc>
              <a:spcBef>
                <a:spcPct val="0"/>
              </a:spcBef>
              <a:buFont typeface="Arial"/>
              <a:buChar char="•"/>
            </a:pPr>
            <a:r>
              <a:rPr lang="en-US" sz="3400">
                <a:solidFill>
                  <a:srgbClr val="3F3D3E"/>
                </a:solidFill>
                <a:latin typeface="Alexandria"/>
                <a:ea typeface="Alexandria"/>
                <a:cs typeface="Alexandria"/>
                <a:sym typeface="Alexandria"/>
              </a:rPr>
              <a:t>To tra</a:t>
            </a:r>
            <a:r>
              <a:rPr lang="en-US" sz="3400">
                <a:solidFill>
                  <a:srgbClr val="3F3D3E"/>
                </a:solidFill>
                <a:latin typeface="Alexandria"/>
                <a:ea typeface="Alexandria"/>
                <a:cs typeface="Alexandria"/>
                <a:sym typeface="Alexandria"/>
              </a:rPr>
              <a:t>in and evaluate the system using benchmark ASL dataset RWTH-PHOENIX-Weather-2014T.</a:t>
            </a:r>
          </a:p>
          <a:p>
            <a:pPr algn="l" marL="734066" indent="-367033" lvl="1">
              <a:lnSpc>
                <a:spcPts val="4760"/>
              </a:lnSpc>
              <a:spcBef>
                <a:spcPct val="0"/>
              </a:spcBef>
              <a:buFont typeface="Arial"/>
              <a:buChar char="•"/>
            </a:pPr>
            <a:r>
              <a:rPr lang="en-US" sz="3400">
                <a:solidFill>
                  <a:srgbClr val="3F3D3E"/>
                </a:solidFill>
                <a:latin typeface="Alexandria"/>
                <a:ea typeface="Alexandria"/>
                <a:cs typeface="Alexandria"/>
                <a:sym typeface="Alexandria"/>
              </a:rPr>
              <a:t>To l</a:t>
            </a:r>
            <a:r>
              <a:rPr lang="en-US" sz="3400">
                <a:solidFill>
                  <a:srgbClr val="3F3D3E"/>
                </a:solidFill>
                <a:latin typeface="Alexandria"/>
                <a:ea typeface="Alexandria"/>
                <a:cs typeface="Alexandria"/>
                <a:sym typeface="Alexandria"/>
              </a:rPr>
              <a:t>ay the foundation for scalability towards multi-lingual sign languages.</a:t>
            </a:r>
          </a:p>
          <a:p>
            <a:pPr algn="l">
              <a:lnSpc>
                <a:spcPts val="476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5558000" y="4048759"/>
            <a:ext cx="7172001"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Literature Survey</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755374"/>
          <a:ext cx="16230600" cy="8848725"/>
        </p:xfrm>
        <a:graphic>
          <a:graphicData uri="http://schemas.openxmlformats.org/drawingml/2006/table">
            <a:tbl>
              <a:tblPr/>
              <a:tblGrid>
                <a:gridCol w="1726836"/>
                <a:gridCol w="3993309"/>
                <a:gridCol w="1975899"/>
                <a:gridCol w="4317091"/>
                <a:gridCol w="4217465"/>
              </a:tblGrid>
              <a:tr h="2056731">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S.NO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TITLE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Ideas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395997">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Cy Grotesk Grand"/>
                          <a:ea typeface="Cy Grotesk Grand"/>
                          <a:cs typeface="Cy Grotesk Grand"/>
                          <a:sym typeface="Cy Grotesk Grand"/>
                        </a:rPr>
                        <a:t>SignDiff: Diffusion Model for American Sign Language Production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y Grotesk Grand"/>
                          <a:ea typeface="Cy Grotesk Grand"/>
                          <a:cs typeface="Cy Grotesk Grand"/>
                          <a:sym typeface="Cy Grotesk Grand"/>
                        </a:rPr>
                        <a:t>2025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Introduces SignDiff, a diffusion-based model for ASL that directly converts text to poses and realistic videos, achieving state-of-the-art results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Use diffusion models for Gloss→Pose generation to get stable, diverse, high-fidelity gesture sequences.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395997">
                <a:tc>
                  <a:txBody>
                    <a:bodyPr anchor="t" rtlCol="false"/>
                    <a:lstStyle/>
                    <a:p>
                      <a:pPr algn="ctr">
                        <a:lnSpc>
                          <a:spcPts val="2800"/>
                        </a:lnSpc>
                        <a:defRPr/>
                      </a:pPr>
                      <a:r>
                        <a:rPr lang="en-US" sz="2000">
                          <a:solidFill>
                            <a:srgbClr val="000000"/>
                          </a:solidFill>
                          <a:latin typeface="Cy Grotesk Grand"/>
                          <a:ea typeface="Cy Grotesk Grand"/>
                          <a:cs typeface="Cy Grotesk Grand"/>
                          <a:sym typeface="Cy Grotesk Grand"/>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Human-Centered Editable Speech-to-Sign-Language Generation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2025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7"/>
                        </a:lnSpc>
                        <a:defRPr/>
                      </a:pPr>
                      <a:r>
                        <a:rPr lang="en-US" sz="2069">
                          <a:solidFill>
                            <a:srgbClr val="000000"/>
                          </a:solidFill>
                          <a:latin typeface="Cy Grotesk Grand"/>
                          <a:ea typeface="Cy Grotesk Grand"/>
                          <a:cs typeface="Cy Grotesk Grand"/>
                          <a:sym typeface="Cy Grotesk Grand"/>
                        </a:rPr>
                        <a:t>Real-time speech-to-sign system with editable JSON outputs and human-in-the-loop feedback. Ensures low latency, personalization, and higher user trust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Adopt low-latency design, applied in optimization and user studies.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755374"/>
          <a:ext cx="16230600" cy="9210675"/>
        </p:xfrm>
        <a:graphic>
          <a:graphicData uri="http://schemas.openxmlformats.org/drawingml/2006/table">
            <a:tbl>
              <a:tblPr/>
              <a:tblGrid>
                <a:gridCol w="1726836"/>
                <a:gridCol w="3993309"/>
                <a:gridCol w="1975899"/>
                <a:gridCol w="4317091"/>
                <a:gridCol w="4217465"/>
              </a:tblGrid>
              <a:tr h="2056381">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S.NO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TITLE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Ideas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395420">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Cy Grotesk Grand"/>
                          <a:ea typeface="Cy Grotesk Grand"/>
                          <a:cs typeface="Cy Grotesk Grand"/>
                          <a:sym typeface="Cy Grotesk Grand"/>
                        </a:rPr>
                        <a:t>Speech and Text to Sign Language Translator Using 3D Avatar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y Grotesk Grand"/>
                          <a:ea typeface="Cy Grotesk Grand"/>
                          <a:cs typeface="Cy Grotesk Grand"/>
                          <a:sym typeface="Cy Grotesk Grand"/>
                        </a:rPr>
                        <a:t>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Translates speech/text to Indian Sign Language (ISL) with NLP and a 3D avatar, offering a web interface. Future work: VR/AR and facial expressions.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Follow the NLP → avatar rendering → web UI integration pattern for front-end and pipeline design.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758874">
                <a:tc>
                  <a:txBody>
                    <a:bodyPr anchor="t" rtlCol="false"/>
                    <a:lstStyle/>
                    <a:p>
                      <a:pPr algn="ctr">
                        <a:lnSpc>
                          <a:spcPts val="2800"/>
                        </a:lnSpc>
                        <a:defRPr/>
                      </a:pPr>
                      <a:r>
                        <a:rPr lang="en-US" sz="2000">
                          <a:solidFill>
                            <a:srgbClr val="000000"/>
                          </a:solidFill>
                          <a:latin typeface="Cy Grotesk Grand"/>
                          <a:ea typeface="Cy Grotesk Grand"/>
                          <a:cs typeface="Cy Grotesk Grand"/>
                          <a:sym typeface="Cy Grotesk Grand"/>
                        </a:rPr>
                        <a:t>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endParaRPr lang="en-US" sz="1100"/>
                    </a:p>
                    <a:p>
                      <a:pPr algn="ctr">
                        <a:lnSpc>
                          <a:spcPts val="2898"/>
                        </a:lnSpc>
                      </a:pPr>
                      <a:r>
                        <a:rPr lang="en-US" sz="2070">
                          <a:solidFill>
                            <a:srgbClr val="000000"/>
                          </a:solidFill>
                          <a:latin typeface="Cy Grotesk Grand"/>
                          <a:ea typeface="Cy Grotesk Grand"/>
                          <a:cs typeface="Cy Grotesk Grand"/>
                          <a:sym typeface="Cy Grotesk Grand"/>
                        </a:rPr>
                        <a:t>A</a:t>
                      </a:r>
                      <a:r>
                        <a:rPr lang="en-US" sz="2070">
                          <a:solidFill>
                            <a:srgbClr val="000000"/>
                          </a:solidFill>
                          <a:latin typeface="Cy Grotesk Grand"/>
                          <a:ea typeface="Cy Grotesk Grand"/>
                          <a:cs typeface="Cy Grotesk Grand"/>
                          <a:sym typeface="Cy Grotesk Grand"/>
                        </a:rPr>
                        <a:t> Speech-driven Sign Language Avatar Animation System for Hearing Impaired Applications</a:t>
                      </a:r>
                    </a:p>
                    <a:p>
                      <a:pPr algn="ctr">
                        <a:lnSpc>
                          <a:spcPts val="2898"/>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2022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7"/>
                        </a:lnSpc>
                        <a:defRPr/>
                      </a:pPr>
                      <a:r>
                        <a:rPr lang="en-US" sz="2069">
                          <a:solidFill>
                            <a:srgbClr val="000000"/>
                          </a:solidFill>
                          <a:latin typeface="Cy Grotesk Grand"/>
                          <a:ea typeface="Cy Grotesk Grand"/>
                          <a:cs typeface="Cy Grotesk Grand"/>
                          <a:sym typeface="Cy Grotesk Grand"/>
                        </a:rPr>
                        <a:t>A system that converts speech to sign avatars by combining NLP, gesture animation, and facial synthesis, deployed as apps for interpretation and virtual anchors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 Use modular architecture: linguistic mapp</a:t>
                      </a:r>
                      <a:r>
                        <a:rPr lang="en-US" sz="2070">
                          <a:solidFill>
                            <a:srgbClr val="000000"/>
                          </a:solidFill>
                          <a:latin typeface="Cy Grotesk Grand"/>
                          <a:ea typeface="Cy Grotesk Grand"/>
                          <a:cs typeface="Cy Grotesk Grand"/>
                          <a:sym typeface="Cy Grotesk Grand"/>
                        </a:rPr>
                        <a:t>i</a:t>
                      </a:r>
                      <a:r>
                        <a:rPr lang="en-US" sz="2070">
                          <a:solidFill>
                            <a:srgbClr val="000000"/>
                          </a:solidFill>
                          <a:latin typeface="Cy Grotesk Grand"/>
                          <a:ea typeface="Cy Grotesk Grand"/>
                          <a:cs typeface="Cy Grotesk Grand"/>
                          <a:sym typeface="Cy Grotesk Grand"/>
                        </a:rPr>
                        <a:t>ng</a:t>
                      </a:r>
                      <a:r>
                        <a:rPr lang="en-US" sz="2070">
                          <a:solidFill>
                            <a:srgbClr val="000000"/>
                          </a:solidFill>
                          <a:latin typeface="Cy Grotesk Grand"/>
                          <a:ea typeface="Cy Grotesk Grand"/>
                          <a:cs typeface="Cy Grotesk Grand"/>
                          <a:sym typeface="Cy Grotesk Grand"/>
                        </a:rPr>
                        <a:t> + </a:t>
                      </a:r>
                      <a:r>
                        <a:rPr lang="en-US" sz="2070">
                          <a:solidFill>
                            <a:srgbClr val="000000"/>
                          </a:solidFill>
                          <a:latin typeface="Cy Grotesk Grand"/>
                          <a:ea typeface="Cy Grotesk Grand"/>
                          <a:cs typeface="Cy Grotesk Grand"/>
                          <a:sym typeface="Cy Grotesk Grand"/>
                        </a:rPr>
                        <a:t>ges</a:t>
                      </a:r>
                      <a:r>
                        <a:rPr lang="en-US" sz="2070">
                          <a:solidFill>
                            <a:srgbClr val="000000"/>
                          </a:solidFill>
                          <a:latin typeface="Cy Grotesk Grand"/>
                          <a:ea typeface="Cy Grotesk Grand"/>
                          <a:cs typeface="Cy Grotesk Grand"/>
                          <a:sym typeface="Cy Grotesk Grand"/>
                        </a:rPr>
                        <a:t>tu</a:t>
                      </a:r>
                      <a:r>
                        <a:rPr lang="en-US" sz="2070">
                          <a:solidFill>
                            <a:srgbClr val="000000"/>
                          </a:solidFill>
                          <a:latin typeface="Cy Grotesk Grand"/>
                          <a:ea typeface="Cy Grotesk Grand"/>
                          <a:cs typeface="Cy Grotesk Grand"/>
                          <a:sym typeface="Cy Grotesk Grand"/>
                        </a:rPr>
                        <a:t>re anima</a:t>
                      </a:r>
                      <a:r>
                        <a:rPr lang="en-US" sz="2070">
                          <a:solidFill>
                            <a:srgbClr val="000000"/>
                          </a:solidFill>
                          <a:latin typeface="Cy Grotesk Grand"/>
                          <a:ea typeface="Cy Grotesk Grand"/>
                          <a:cs typeface="Cy Grotesk Grand"/>
                          <a:sym typeface="Cy Grotesk Grand"/>
                        </a:rPr>
                        <a:t>t</a:t>
                      </a:r>
                      <a:r>
                        <a:rPr lang="en-US" sz="2070">
                          <a:solidFill>
                            <a:srgbClr val="000000"/>
                          </a:solidFill>
                          <a:latin typeface="Cy Grotesk Grand"/>
                          <a:ea typeface="Cy Grotesk Grand"/>
                          <a:cs typeface="Cy Grotesk Grand"/>
                          <a:sym typeface="Cy Grotesk Grand"/>
                        </a:rPr>
                        <a:t>ion + facial synchronization (Transformer, Diffusion/GAN, VAE/Pose Transformer).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755374"/>
          <a:ext cx="16230600" cy="8486775"/>
        </p:xfrm>
        <a:graphic>
          <a:graphicData uri="http://schemas.openxmlformats.org/drawingml/2006/table">
            <a:tbl>
              <a:tblPr/>
              <a:tblGrid>
                <a:gridCol w="1726836"/>
                <a:gridCol w="3993309"/>
                <a:gridCol w="1975899"/>
                <a:gridCol w="4317091"/>
                <a:gridCol w="4217465"/>
              </a:tblGrid>
              <a:tr h="2057110">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S.NO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TITLE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37"/>
                        </a:lnSpc>
                        <a:defRPr/>
                      </a:pPr>
                      <a:r>
                        <a:rPr lang="en-US" sz="2169" b="true">
                          <a:solidFill>
                            <a:srgbClr val="000000"/>
                          </a:solidFill>
                          <a:latin typeface="Alexandria Bold"/>
                          <a:ea typeface="Alexandria Bold"/>
                          <a:cs typeface="Alexandria Bold"/>
                          <a:sym typeface="Alexandria Bold"/>
                        </a:rPr>
                        <a:t>Ideas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669459">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Cy Grotesk Grand"/>
                          <a:ea typeface="Cy Grotesk Grand"/>
                          <a:cs typeface="Cy Grotesk Grand"/>
                          <a:sym typeface="Cy Grotesk Grand"/>
                        </a:rPr>
                        <a:t>Sign Language Transformers: Joint End-to-End Sign Language Recognition and Translation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endParaRPr lang="en-US" sz="1100"/>
                    </a:p>
                    <a:p>
                      <a:pPr algn="ctr">
                        <a:lnSpc>
                          <a:spcPts val="2799"/>
                        </a:lnSpc>
                      </a:pPr>
                      <a:r>
                        <a:rPr lang="en-US" sz="1999">
                          <a:solidFill>
                            <a:srgbClr val="000000"/>
                          </a:solidFill>
                          <a:latin typeface="Cy Grotesk Grand"/>
                          <a:ea typeface="Cy Grotesk Grand"/>
                          <a:cs typeface="Cy Grotesk Grand"/>
                          <a:sym typeface="Cy Grotesk Grand"/>
                        </a:rPr>
                        <a:t>2020/2022</a:t>
                      </a:r>
                    </a:p>
                    <a:p>
                      <a:pPr algn="ctr">
                        <a:lnSpc>
                          <a:spcPts val="27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A transformer model jointly performs sign recognition and translation, achieving top results on PHOENIX14T dataset.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Apply Transformer/attention for robust Text→Gloss mapping and token–gloss alignment.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760206">
                <a:tc>
                  <a:txBody>
                    <a:bodyPr anchor="t" rtlCol="false"/>
                    <a:lstStyle/>
                    <a:p>
                      <a:pPr algn="ctr">
                        <a:lnSpc>
                          <a:spcPts val="2800"/>
                        </a:lnSpc>
                        <a:defRPr/>
                      </a:pPr>
                      <a:r>
                        <a:rPr lang="en-US" sz="2000">
                          <a:solidFill>
                            <a:srgbClr val="000000"/>
                          </a:solidFill>
                          <a:latin typeface="Cy Grotesk Grand"/>
                          <a:ea typeface="Cy Grotesk Grand"/>
                          <a:cs typeface="Cy Grotesk Grand"/>
                          <a:sym typeface="Cy Grotesk Grand"/>
                        </a:rPr>
                        <a:t>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endParaRPr lang="en-US" sz="1100"/>
                    </a:p>
                    <a:p>
                      <a:pPr algn="ctr">
                        <a:lnSpc>
                          <a:spcPts val="2898"/>
                        </a:lnSpc>
                      </a:pPr>
                      <a:r>
                        <a:rPr lang="en-US" sz="2070">
                          <a:solidFill>
                            <a:srgbClr val="000000"/>
                          </a:solidFill>
                          <a:latin typeface="Cy Grotesk Grand"/>
                          <a:ea typeface="Cy Grotesk Grand"/>
                          <a:cs typeface="Cy Grotesk Grand"/>
                          <a:sym typeface="Cy Grotesk Grand"/>
                        </a:rPr>
                        <a:t>Everybody Sign Now: Translating Spoken Language to Photo Realistic Sign Language Video</a:t>
                      </a:r>
                    </a:p>
                    <a:p>
                      <a:pPr algn="ctr">
                        <a:lnSpc>
                          <a:spcPts val="2898"/>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2020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7"/>
                        </a:lnSpc>
                        <a:defRPr/>
                      </a:pPr>
                      <a:r>
                        <a:rPr lang="en-US" sz="2069">
                          <a:solidFill>
                            <a:srgbClr val="000000"/>
                          </a:solidFill>
                          <a:latin typeface="Cy Grotesk Grand"/>
                          <a:ea typeface="Cy Grotesk Grand"/>
                          <a:cs typeface="Cy Grotesk Grand"/>
                          <a:sym typeface="Cy Grotesk Grand"/>
                        </a:rPr>
                        <a:t>Proposes SIGNGAN, generating photo-realistic sign videos from speech using transformers and pose-to-video synthesis. Improves realism over avatar-based systems.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98"/>
                        </a:lnSpc>
                        <a:defRPr/>
                      </a:pPr>
                      <a:r>
                        <a:rPr lang="en-US" sz="2070">
                          <a:solidFill>
                            <a:srgbClr val="000000"/>
                          </a:solidFill>
                          <a:latin typeface="Cy Grotesk Grand"/>
                          <a:ea typeface="Cy Grotesk Grand"/>
                          <a:cs typeface="Cy Grotesk Grand"/>
                          <a:sym typeface="Cy Grotesk Grand"/>
                        </a:rPr>
                        <a:t>Use pose-conditioned generation ideas for the f</a:t>
                      </a:r>
                      <a:r>
                        <a:rPr lang="en-US" sz="2070">
                          <a:solidFill>
                            <a:srgbClr val="000000"/>
                          </a:solidFill>
                          <a:latin typeface="Cy Grotesk Grand"/>
                          <a:ea typeface="Cy Grotesk Grand"/>
                          <a:cs typeface="Cy Grotesk Grand"/>
                          <a:sym typeface="Cy Grotesk Grand"/>
                        </a:rPr>
                        <a:t>i</a:t>
                      </a:r>
                      <a:r>
                        <a:rPr lang="en-US" sz="2070">
                          <a:solidFill>
                            <a:srgbClr val="000000"/>
                          </a:solidFill>
                          <a:latin typeface="Cy Grotesk Grand"/>
                          <a:ea typeface="Cy Grotesk Grand"/>
                          <a:cs typeface="Cy Grotesk Grand"/>
                          <a:sym typeface="Cy Grotesk Grand"/>
                        </a:rPr>
                        <a:t>nal</a:t>
                      </a:r>
                      <a:r>
                        <a:rPr lang="en-US" sz="2070">
                          <a:solidFill>
                            <a:srgbClr val="000000"/>
                          </a:solidFill>
                          <a:latin typeface="Cy Grotesk Grand"/>
                          <a:ea typeface="Cy Grotesk Grand"/>
                          <a:cs typeface="Cy Grotesk Grand"/>
                          <a:sym typeface="Cy Grotesk Grand"/>
                        </a:rPr>
                        <a:t> pose→avat</a:t>
                      </a:r>
                      <a:r>
                        <a:rPr lang="en-US" sz="2070">
                          <a:solidFill>
                            <a:srgbClr val="000000"/>
                          </a:solidFill>
                          <a:latin typeface="Cy Grotesk Grand"/>
                          <a:ea typeface="Cy Grotesk Grand"/>
                          <a:cs typeface="Cy Grotesk Grand"/>
                          <a:sym typeface="Cy Grotesk Grand"/>
                        </a:rPr>
                        <a:t>ar rendering stage to improve visual realism.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5777291" y="904875"/>
            <a:ext cx="6714367"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Model Selection</a:t>
            </a:r>
          </a:p>
        </p:txBody>
      </p:sp>
      <p:sp>
        <p:nvSpPr>
          <p:cNvPr name="TextBox 3" id="3"/>
          <p:cNvSpPr txBox="true"/>
          <p:nvPr/>
        </p:nvSpPr>
        <p:spPr>
          <a:xfrm rot="0">
            <a:off x="1019175" y="2410700"/>
            <a:ext cx="16230600" cy="5408451"/>
          </a:xfrm>
          <a:prstGeom prst="rect">
            <a:avLst/>
          </a:prstGeom>
        </p:spPr>
        <p:txBody>
          <a:bodyPr anchor="t" rtlCol="false" tIns="0" lIns="0" bIns="0" rIns="0">
            <a:spAutoFit/>
          </a:bodyPr>
          <a:lstStyle/>
          <a:p>
            <a:pPr algn="l">
              <a:lnSpc>
                <a:spcPts val="4296"/>
              </a:lnSpc>
              <a:spcBef>
                <a:spcPct val="0"/>
              </a:spcBef>
            </a:pPr>
            <a:r>
              <a:rPr lang="en-US" b="true" sz="3068">
                <a:solidFill>
                  <a:srgbClr val="3F3D3E"/>
                </a:solidFill>
                <a:latin typeface="Alexandria Bold"/>
                <a:ea typeface="Alexandria Bold"/>
                <a:cs typeface="Alexandria Bold"/>
                <a:sym typeface="Alexandria Bold"/>
              </a:rPr>
              <a:t>Model 1 - VQ-VAE (The “Motion Dicti</a:t>
            </a:r>
            <a:r>
              <a:rPr lang="en-US" b="true" sz="3068">
                <a:solidFill>
                  <a:srgbClr val="3F3D3E"/>
                </a:solidFill>
                <a:latin typeface="Alexandria Bold"/>
                <a:ea typeface="Alexandria Bold"/>
                <a:cs typeface="Alexandria Bold"/>
                <a:sym typeface="Alexandria Bold"/>
              </a:rPr>
              <a:t>onary”)</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Role:</a:t>
            </a:r>
          </a:p>
          <a:p>
            <a:pPr algn="l">
              <a:lnSpc>
                <a:spcPts val="4296"/>
              </a:lnSpc>
              <a:spcBef>
                <a:spcPct val="0"/>
              </a:spcBef>
            </a:pPr>
            <a:r>
              <a:rPr lang="en-US" sz="3068">
                <a:solidFill>
                  <a:srgbClr val="3F3D3E"/>
                </a:solidFill>
                <a:latin typeface="Alexandria"/>
                <a:ea typeface="Alexandria"/>
                <a:cs typeface="Alexandria"/>
                <a:sym typeface="Alexandria"/>
              </a:rPr>
              <a:t>Learns a discrete motion codebook of fundamental sign language movements.</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Reason:</a:t>
            </a:r>
          </a:p>
          <a:p>
            <a:pPr algn="l">
              <a:lnSpc>
                <a:spcPts val="4296"/>
              </a:lnSpc>
              <a:spcBef>
                <a:spcPct val="0"/>
              </a:spcBef>
            </a:pPr>
            <a:r>
              <a:rPr lang="en-US" sz="3068">
                <a:solidFill>
                  <a:srgbClr val="3F3D3E"/>
                </a:solidFill>
                <a:latin typeface="Alexandria"/>
                <a:ea typeface="Alexandria"/>
                <a:cs typeface="Alexandria"/>
                <a:sym typeface="Alexandria"/>
              </a:rPr>
              <a:t>Instead of translating directly, it compresses real sign language motion data into reusable motion “tokens.” These tokens act like the phonemes of motion, forming the foundation for all generated gestures.</a:t>
            </a:r>
          </a:p>
          <a:p>
            <a:pPr algn="l">
              <a:lnSpc>
                <a:spcPts val="4296"/>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4711148" y="3149462"/>
          <a:ext cx="3771900" cy="3143250"/>
        </p:xfrm>
        <a:graphic>
          <a:graphicData uri="http://schemas.openxmlformats.org/presentationml/2006/ole">
            <p:oleObj imgW="4521200" imgH="3886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5259694" y="904875"/>
            <a:ext cx="776861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Evaluation Metrics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1019175" y="2410700"/>
            <a:ext cx="16230600" cy="5951376"/>
          </a:xfrm>
          <a:prstGeom prst="rect">
            <a:avLst/>
          </a:prstGeom>
        </p:spPr>
        <p:txBody>
          <a:bodyPr anchor="t" rtlCol="false" tIns="0" lIns="0" bIns="0" rIns="0">
            <a:spAutoFit/>
          </a:bodyPr>
          <a:lstStyle/>
          <a:p>
            <a:pPr algn="l">
              <a:lnSpc>
                <a:spcPts val="4296"/>
              </a:lnSpc>
              <a:spcBef>
                <a:spcPct val="0"/>
              </a:spcBef>
            </a:pPr>
            <a:r>
              <a:rPr lang="en-US" b="true" sz="3068">
                <a:solidFill>
                  <a:srgbClr val="3F3D3E"/>
                </a:solidFill>
                <a:latin typeface="Alexandria Bold"/>
                <a:ea typeface="Alexandria Bold"/>
                <a:cs typeface="Alexandria Bold"/>
                <a:sym typeface="Alexandria Bold"/>
              </a:rPr>
              <a:t>Model 2 - Transformer (Th</a:t>
            </a:r>
            <a:r>
              <a:rPr lang="en-US" b="true" sz="3068">
                <a:solidFill>
                  <a:srgbClr val="3F3D3E"/>
                </a:solidFill>
                <a:latin typeface="Alexandria Bold"/>
                <a:ea typeface="Alexandria Bold"/>
                <a:cs typeface="Alexandria Bold"/>
                <a:sym typeface="Alexandria Bold"/>
              </a:rPr>
              <a:t>e “Translator”)</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Role:</a:t>
            </a:r>
          </a:p>
          <a:p>
            <a:pPr algn="l">
              <a:lnSpc>
                <a:spcPts val="4296"/>
              </a:lnSpc>
              <a:spcBef>
                <a:spcPct val="0"/>
              </a:spcBef>
            </a:pPr>
            <a:r>
              <a:rPr lang="en-US" sz="3068">
                <a:solidFill>
                  <a:srgbClr val="3F3D3E"/>
                </a:solidFill>
                <a:latin typeface="Alexandria"/>
                <a:ea typeface="Alexandria"/>
                <a:cs typeface="Alexandria"/>
                <a:sym typeface="Alexandria"/>
              </a:rPr>
              <a:t>Translates input text (e.g., English) into a sequence of motion codes from the VQ-VAE dictionary.</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Reason:</a:t>
            </a:r>
          </a:p>
          <a:p>
            <a:pPr algn="l">
              <a:lnSpc>
                <a:spcPts val="4296"/>
              </a:lnSpc>
              <a:spcBef>
                <a:spcPct val="0"/>
              </a:spcBef>
            </a:pPr>
            <a:r>
              <a:rPr lang="en-US" sz="3068">
                <a:solidFill>
                  <a:srgbClr val="3F3D3E"/>
                </a:solidFill>
                <a:latin typeface="Alexandria"/>
                <a:ea typeface="Alexandria"/>
                <a:cs typeface="Alexandria"/>
                <a:sym typeface="Alexandria"/>
              </a:rPr>
              <a:t>The Transformer’s encoder–decoder architecture excels at capturing long-range dependencies, making it ideal for mapping natural language to motion representations.</a:t>
            </a:r>
          </a:p>
          <a:p>
            <a:pPr algn="l">
              <a:lnSpc>
                <a:spcPts val="4296"/>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007417" y="3071688"/>
          <a:ext cx="3771900" cy="4400550"/>
        </p:xfrm>
        <a:graphic>
          <a:graphicData uri="http://schemas.openxmlformats.org/presentationml/2006/ole">
            <p:oleObj imgW="4648200" imgH="527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10143178" y="3124974"/>
          <a:ext cx="3771900" cy="5029200"/>
        </p:xfrm>
        <a:graphic>
          <a:graphicData uri="http://schemas.openxmlformats.org/presentationml/2006/ole">
            <p:oleObj imgW="4775200" imgH="6032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5259694" y="904875"/>
            <a:ext cx="776861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Evaluation Metrics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1019175" y="2410700"/>
            <a:ext cx="16230600" cy="5408451"/>
          </a:xfrm>
          <a:prstGeom prst="rect">
            <a:avLst/>
          </a:prstGeom>
        </p:spPr>
        <p:txBody>
          <a:bodyPr anchor="t" rtlCol="false" tIns="0" lIns="0" bIns="0" rIns="0">
            <a:spAutoFit/>
          </a:bodyPr>
          <a:lstStyle/>
          <a:p>
            <a:pPr algn="l">
              <a:lnSpc>
                <a:spcPts val="4296"/>
              </a:lnSpc>
              <a:spcBef>
                <a:spcPct val="0"/>
              </a:spcBef>
            </a:pPr>
            <a:r>
              <a:rPr lang="en-US" b="true" sz="3068">
                <a:solidFill>
                  <a:srgbClr val="3F3D3E"/>
                </a:solidFill>
                <a:latin typeface="Alexandria Bold"/>
                <a:ea typeface="Alexandria Bold"/>
                <a:cs typeface="Alexandria Bold"/>
                <a:sym typeface="Alexandria Bold"/>
              </a:rPr>
              <a:t>Model 3 - GAN (The “Style Refin</a:t>
            </a:r>
            <a:r>
              <a:rPr lang="en-US" b="true" sz="3068">
                <a:solidFill>
                  <a:srgbClr val="3F3D3E"/>
                </a:solidFill>
                <a:latin typeface="Alexandria Bold"/>
                <a:ea typeface="Alexandria Bold"/>
                <a:cs typeface="Alexandria Bold"/>
                <a:sym typeface="Alexandria Bold"/>
              </a:rPr>
              <a:t>er”)</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Role:</a:t>
            </a:r>
          </a:p>
          <a:p>
            <a:pPr algn="l">
              <a:lnSpc>
                <a:spcPts val="4296"/>
              </a:lnSpc>
              <a:spcBef>
                <a:spcPct val="0"/>
              </a:spcBef>
            </a:pPr>
            <a:r>
              <a:rPr lang="en-US" sz="3068">
                <a:solidFill>
                  <a:srgbClr val="3F3D3E"/>
                </a:solidFill>
                <a:latin typeface="Alexandria"/>
                <a:ea typeface="Alexandria"/>
                <a:cs typeface="Alexandria"/>
                <a:sym typeface="Alexandria"/>
              </a:rPr>
              <a:t>Refines the coarse, codebook-based poses from the VQ-VAE and Transformer pipeline into smoother, more human-like motion.</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Reason:</a:t>
            </a:r>
          </a:p>
          <a:p>
            <a:pPr algn="l">
              <a:lnSpc>
                <a:spcPts val="4296"/>
              </a:lnSpc>
              <a:spcBef>
                <a:spcPct val="0"/>
              </a:spcBef>
            </a:pPr>
            <a:r>
              <a:rPr lang="en-US" sz="3068">
                <a:solidFill>
                  <a:srgbClr val="3F3D3E"/>
                </a:solidFill>
                <a:latin typeface="Alexandria"/>
                <a:ea typeface="Alexandria"/>
                <a:cs typeface="Alexandria"/>
                <a:sym typeface="Alexandria"/>
              </a:rPr>
              <a:t>The GAN (PatchGAN) adversarially trains a Generator to make robotic motions appear fluid and realistic, using both adversarial and L1 losses.</a:t>
            </a:r>
          </a:p>
          <a:p>
            <a:pPr algn="l">
              <a:lnSpc>
                <a:spcPts val="4296"/>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3793021" y="3497332"/>
          <a:ext cx="5657850" cy="3143250"/>
        </p:xfrm>
        <a:graphic>
          <a:graphicData uri="http://schemas.openxmlformats.org/presentationml/2006/ole">
            <p:oleObj imgW="6781800" imgH="426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5259694" y="904875"/>
            <a:ext cx="776861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Evaluation Metrics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1028700" y="2139237"/>
            <a:ext cx="16230600" cy="6494301"/>
          </a:xfrm>
          <a:prstGeom prst="rect">
            <a:avLst/>
          </a:prstGeom>
        </p:spPr>
        <p:txBody>
          <a:bodyPr anchor="t" rtlCol="false" tIns="0" lIns="0" bIns="0" rIns="0">
            <a:spAutoFit/>
          </a:bodyPr>
          <a:lstStyle/>
          <a:p>
            <a:pPr algn="l">
              <a:lnSpc>
                <a:spcPts val="4296"/>
              </a:lnSpc>
              <a:spcBef>
                <a:spcPct val="0"/>
              </a:spcBef>
            </a:pPr>
            <a:r>
              <a:rPr lang="en-US" b="true" sz="3068">
                <a:solidFill>
                  <a:srgbClr val="3F3D3E"/>
                </a:solidFill>
                <a:latin typeface="Alexandria Bold"/>
                <a:ea typeface="Alexandria Bold"/>
                <a:cs typeface="Alexandria Bold"/>
                <a:sym typeface="Alexandria Bold"/>
              </a:rPr>
              <a:t>Model 4 - Diffusion Refiner (The “Denoising Refin</a:t>
            </a:r>
            <a:r>
              <a:rPr lang="en-US" b="true" sz="3068">
                <a:solidFill>
                  <a:srgbClr val="3F3D3E"/>
                </a:solidFill>
                <a:latin typeface="Alexandria Bold"/>
                <a:ea typeface="Alexandria Bold"/>
                <a:cs typeface="Alexandria Bold"/>
                <a:sym typeface="Alexandria Bold"/>
              </a:rPr>
              <a:t>er”)</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Role:</a:t>
            </a:r>
          </a:p>
          <a:p>
            <a:pPr algn="l">
              <a:lnSpc>
                <a:spcPts val="4296"/>
              </a:lnSpc>
              <a:spcBef>
                <a:spcPct val="0"/>
              </a:spcBef>
            </a:pPr>
            <a:r>
              <a:rPr lang="en-US" sz="3068">
                <a:solidFill>
                  <a:srgbClr val="3F3D3E"/>
                </a:solidFill>
                <a:latin typeface="Alexandria"/>
                <a:ea typeface="Alexandria"/>
                <a:cs typeface="Alexandria"/>
                <a:sym typeface="Alexandria"/>
              </a:rPr>
              <a:t>Synchronizes the fine-grained movements of the face, hands, and body to produce a cohesive and natural performance.</a:t>
            </a:r>
          </a:p>
          <a:p>
            <a:pPr algn="l">
              <a:lnSpc>
                <a:spcPts val="4296"/>
              </a:lnSpc>
              <a:spcBef>
                <a:spcPct val="0"/>
              </a:spcBef>
            </a:pPr>
            <a:r>
              <a:rPr lang="en-US" sz="3068">
                <a:solidFill>
                  <a:srgbClr val="3F3D3E"/>
                </a:solidFill>
                <a:latin typeface="Alexandria"/>
                <a:ea typeface="Alexandria"/>
                <a:cs typeface="Alexandria"/>
                <a:sym typeface="Alexandria"/>
              </a:rPr>
              <a:t>Reason</a:t>
            </a:r>
          </a:p>
          <a:p>
            <a:pPr algn="l">
              <a:lnSpc>
                <a:spcPts val="4296"/>
              </a:lnSpc>
              <a:spcBef>
                <a:spcPct val="0"/>
              </a:spcBef>
            </a:pPr>
          </a:p>
          <a:p>
            <a:pPr algn="l">
              <a:lnSpc>
                <a:spcPts val="4296"/>
              </a:lnSpc>
              <a:spcBef>
                <a:spcPct val="0"/>
              </a:spcBef>
            </a:pPr>
            <a:r>
              <a:rPr lang="en-US" b="true" sz="3068">
                <a:solidFill>
                  <a:srgbClr val="3F3D3E"/>
                </a:solidFill>
                <a:latin typeface="Alexandria Bold"/>
                <a:ea typeface="Alexandria Bold"/>
                <a:cs typeface="Alexandria Bold"/>
                <a:sym typeface="Alexandria Bold"/>
              </a:rPr>
              <a:t>Reason:</a:t>
            </a:r>
          </a:p>
          <a:p>
            <a:pPr algn="l">
              <a:lnSpc>
                <a:spcPts val="4296"/>
              </a:lnSpc>
              <a:spcBef>
                <a:spcPct val="0"/>
              </a:spcBef>
            </a:pPr>
            <a:r>
              <a:rPr lang="en-US" sz="3068">
                <a:solidFill>
                  <a:srgbClr val="3F3D3E"/>
                </a:solidFill>
                <a:latin typeface="Alexandria"/>
                <a:ea typeface="Alexandria"/>
                <a:cs typeface="Alexandria"/>
                <a:sym typeface="Alexandria"/>
              </a:rPr>
              <a:t>The Pose Transformer's attention-based architecture allows it to model the complex interdependencies between different body parts, ensuring a lifelike and expressive avatar that mirrors the natural coordination of a human signer.</a:t>
            </a:r>
          </a:p>
          <a:p>
            <a:pPr algn="l">
              <a:lnSpc>
                <a:spcPts val="4296"/>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4289977" y="2745685"/>
          <a:ext cx="5657850" cy="4400550"/>
        </p:xfrm>
        <a:graphic>
          <a:graphicData uri="http://schemas.openxmlformats.org/presentationml/2006/ole">
            <p:oleObj imgW="6781800" imgH="5524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5259694" y="904875"/>
            <a:ext cx="776861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Evaluation Metrics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4847251" y="4534217"/>
            <a:ext cx="8593499"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System Architecture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6563098" y="0"/>
            <a:ext cx="5161804" cy="10287000"/>
          </a:xfrm>
          <a:custGeom>
            <a:avLst/>
            <a:gdLst/>
            <a:ahLst/>
            <a:cxnLst/>
            <a:rect r="r" b="b" t="t" l="l"/>
            <a:pathLst>
              <a:path h="10287000" w="5161804">
                <a:moveTo>
                  <a:pt x="0" y="0"/>
                </a:moveTo>
                <a:lnTo>
                  <a:pt x="5161804" y="0"/>
                </a:lnTo>
                <a:lnTo>
                  <a:pt x="5161804" y="10287000"/>
                </a:lnTo>
                <a:lnTo>
                  <a:pt x="0" y="10287000"/>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5503512" y="281412"/>
            <a:ext cx="7280976" cy="9724175"/>
          </a:xfrm>
          <a:custGeom>
            <a:avLst/>
            <a:gdLst/>
            <a:ahLst/>
            <a:cxnLst/>
            <a:rect r="r" b="b" t="t" l="l"/>
            <a:pathLst>
              <a:path h="9724175" w="7280976">
                <a:moveTo>
                  <a:pt x="0" y="0"/>
                </a:moveTo>
                <a:lnTo>
                  <a:pt x="7280976" y="0"/>
                </a:lnTo>
                <a:lnTo>
                  <a:pt x="7280976" y="9724176"/>
                </a:lnTo>
                <a:lnTo>
                  <a:pt x="0" y="9724176"/>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3543354" y="904875"/>
            <a:ext cx="1118224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Mathematical Formulation</a:t>
            </a:r>
          </a:p>
        </p:txBody>
      </p:sp>
      <p:sp>
        <p:nvSpPr>
          <p:cNvPr name="TextBox 3" id="3"/>
          <p:cNvSpPr txBox="true"/>
          <p:nvPr/>
        </p:nvSpPr>
        <p:spPr>
          <a:xfrm rot="0">
            <a:off x="1028700" y="1951991"/>
            <a:ext cx="17259300" cy="8075293"/>
          </a:xfrm>
          <a:prstGeom prst="rect">
            <a:avLst/>
          </a:prstGeom>
        </p:spPr>
        <p:txBody>
          <a:bodyPr anchor="t" rtlCol="false" tIns="0" lIns="0" bIns="0" rIns="0">
            <a:spAutoFit/>
          </a:bodyPr>
          <a:lstStyle/>
          <a:p>
            <a:pPr algn="l">
              <a:lnSpc>
                <a:spcPts val="3780"/>
              </a:lnSpc>
              <a:spcBef>
                <a:spcPct val="0"/>
              </a:spcBef>
            </a:pPr>
            <a:r>
              <a:rPr lang="en-US" b="true" sz="2700">
                <a:solidFill>
                  <a:srgbClr val="3F3D3E"/>
                </a:solidFill>
                <a:latin typeface="Alexandria Bold"/>
                <a:ea typeface="Alexandria Bold"/>
                <a:cs typeface="Alexandria Bold"/>
                <a:sym typeface="Alexandria Bold"/>
              </a:rPr>
              <a:t>1.</a:t>
            </a:r>
            <a:r>
              <a:rPr lang="en-US" b="true" sz="2700">
                <a:solidFill>
                  <a:srgbClr val="3F3D3E"/>
                </a:solidFill>
                <a:latin typeface="Alexandria Bold"/>
                <a:ea typeface="Alexandria Bold"/>
                <a:cs typeface="Alexandria Bold"/>
                <a:sym typeface="Alexandria Bold"/>
              </a:rPr>
              <a:t>VQ-VAE (Motion Dictionary Learning)</a:t>
            </a:r>
          </a:p>
          <a:p>
            <a:pPr algn="l">
              <a:lnSpc>
                <a:spcPts val="3780"/>
              </a:lnSpc>
              <a:spcBef>
                <a:spcPct val="0"/>
              </a:spcBef>
            </a:pPr>
          </a:p>
          <a:p>
            <a:pPr algn="l">
              <a:lnSpc>
                <a:spcPts val="3780"/>
              </a:lnSpc>
              <a:spcBef>
                <a:spcPct val="0"/>
              </a:spcBef>
            </a:pPr>
            <a:r>
              <a:rPr lang="en-US" b="true" sz="2700">
                <a:solidFill>
                  <a:srgbClr val="3F3D3E"/>
                </a:solidFill>
                <a:latin typeface="Alexandria Bold"/>
                <a:ea typeface="Alexandria Bold"/>
                <a:cs typeface="Alexandria Bold"/>
                <a:sym typeface="Alexandria Bold"/>
              </a:rPr>
              <a:t>Equation:</a:t>
            </a:r>
          </a:p>
          <a:p>
            <a:pPr algn="l">
              <a:lnSpc>
                <a:spcPts val="3780"/>
              </a:lnSpc>
              <a:spcBef>
                <a:spcPct val="0"/>
              </a:spcBef>
            </a:pPr>
            <a:r>
              <a:rPr lang="en-US" b="true" sz="2700">
                <a:solidFill>
                  <a:srgbClr val="3F3D3E"/>
                </a:solidFill>
                <a:latin typeface="Alexandria Bold"/>
                <a:ea typeface="Alexandria Bold"/>
                <a:cs typeface="Alexandria Bold"/>
                <a:sym typeface="Alexandria Bold"/>
              </a:rPr>
              <a:t>                     î = D(q(E(x)))</a:t>
            </a:r>
          </a:p>
          <a:p>
            <a:pPr algn="l">
              <a:lnSpc>
                <a:spcPts val="3780"/>
              </a:lnSpc>
              <a:spcBef>
                <a:spcPct val="0"/>
              </a:spcBef>
            </a:pPr>
          </a:p>
          <a:p>
            <a:pPr algn="l">
              <a:lnSpc>
                <a:spcPts val="3780"/>
              </a:lnSpc>
              <a:spcBef>
                <a:spcPct val="0"/>
              </a:spcBef>
            </a:pPr>
            <a:r>
              <a:rPr lang="en-US" b="true" sz="2700">
                <a:solidFill>
                  <a:srgbClr val="3F3D3E"/>
                </a:solidFill>
                <a:latin typeface="Alexandria Bold"/>
                <a:ea typeface="Alexandria Bold"/>
                <a:cs typeface="Alexandria Bold"/>
                <a:sym typeface="Alexandria Bold"/>
              </a:rPr>
              <a:t>Loss Function:</a:t>
            </a:r>
          </a:p>
          <a:p>
            <a:pPr algn="l">
              <a:lnSpc>
                <a:spcPts val="3780"/>
              </a:lnSpc>
              <a:spcBef>
                <a:spcPct val="0"/>
              </a:spcBef>
            </a:pPr>
            <a:r>
              <a:rPr lang="en-US" b="true" sz="2700">
                <a:solidFill>
                  <a:srgbClr val="3F3D3E"/>
                </a:solidFill>
                <a:latin typeface="Alexandria Bold"/>
                <a:ea typeface="Alexandria Bold"/>
                <a:cs typeface="Alexandria Bold"/>
                <a:sym typeface="Alexandria Bold"/>
              </a:rPr>
              <a:t>                     Lrec = ||x - î||2</a:t>
            </a:r>
          </a:p>
          <a:p>
            <a:pPr algn="l">
              <a:lnSpc>
                <a:spcPts val="3780"/>
              </a:lnSpc>
              <a:spcBef>
                <a:spcPct val="0"/>
              </a:spcBef>
            </a:pPr>
          </a:p>
          <a:p>
            <a:pPr algn="l">
              <a:lnSpc>
                <a:spcPts val="3780"/>
              </a:lnSpc>
              <a:spcBef>
                <a:spcPct val="0"/>
              </a:spcBef>
            </a:pPr>
            <a:r>
              <a:rPr lang="en-US" b="true" sz="2700">
                <a:solidFill>
                  <a:srgbClr val="3F3D3E"/>
                </a:solidFill>
                <a:latin typeface="Alexandria Bold"/>
                <a:ea typeface="Alexandria Bold"/>
                <a:cs typeface="Alexandria Bold"/>
                <a:sym typeface="Alexandria Bold"/>
              </a:rPr>
              <a:t>Where:</a:t>
            </a:r>
          </a:p>
          <a:p>
            <a:pPr algn="l">
              <a:lnSpc>
                <a:spcPts val="3780"/>
              </a:lnSpc>
              <a:spcBef>
                <a:spcPct val="0"/>
              </a:spcBef>
            </a:pPr>
          </a:p>
          <a:p>
            <a:pPr algn="l">
              <a:lnSpc>
                <a:spcPts val="3780"/>
              </a:lnSpc>
              <a:spcBef>
                <a:spcPct val="0"/>
              </a:spcBef>
            </a:pPr>
            <a:r>
              <a:rPr lang="en-US" b="true" sz="2700">
                <a:solidFill>
                  <a:srgbClr val="3F3D3E"/>
                </a:solidFill>
                <a:latin typeface="Alexandria Bold"/>
                <a:ea typeface="Alexandria Bold"/>
                <a:cs typeface="Alexandria Bold"/>
                <a:sym typeface="Alexandria Bold"/>
              </a:rPr>
              <a:t>· x: Original input motion sequence (pose frames from real signer).</a:t>
            </a:r>
          </a:p>
          <a:p>
            <a:pPr algn="l">
              <a:lnSpc>
                <a:spcPts val="3780"/>
              </a:lnSpc>
              <a:spcBef>
                <a:spcPct val="0"/>
              </a:spcBef>
            </a:pPr>
            <a:r>
              <a:rPr lang="en-US" b="true" sz="2700">
                <a:solidFill>
                  <a:srgbClr val="3F3D3E"/>
                </a:solidFill>
                <a:latin typeface="Alexandria Bold"/>
                <a:ea typeface="Alexandria Bold"/>
                <a:cs typeface="Alexandria Bold"/>
                <a:sym typeface="Alexandria Bold"/>
              </a:rPr>
              <a:t>. E(x): Encoder output - latent motion representation.</a:t>
            </a:r>
          </a:p>
          <a:p>
            <a:pPr algn="l">
              <a:lnSpc>
                <a:spcPts val="3780"/>
              </a:lnSpc>
              <a:spcBef>
                <a:spcPct val="0"/>
              </a:spcBef>
            </a:pPr>
            <a:r>
              <a:rPr lang="en-US" b="true" sz="2700">
                <a:solidFill>
                  <a:srgbClr val="3F3D3E"/>
                </a:solidFill>
                <a:latin typeface="Alexandria Bold"/>
                <a:ea typeface="Alexandria Bold"/>
                <a:cs typeface="Alexandria Bold"/>
                <a:sym typeface="Alexandria Bold"/>
              </a:rPr>
              <a:t>. q(.): Vector quantization function - maps latent vector to nearest code in the learned codebook.</a:t>
            </a:r>
          </a:p>
          <a:p>
            <a:pPr algn="l">
              <a:lnSpc>
                <a:spcPts val="3780"/>
              </a:lnSpc>
              <a:spcBef>
                <a:spcPct val="0"/>
              </a:spcBef>
            </a:pPr>
            <a:r>
              <a:rPr lang="en-US" b="true" sz="2700">
                <a:solidFill>
                  <a:srgbClr val="3F3D3E"/>
                </a:solidFill>
                <a:latin typeface="Alexandria Bold"/>
                <a:ea typeface="Alexandria Bold"/>
                <a:cs typeface="Alexandria Bold"/>
                <a:sym typeface="Alexandria Bold"/>
              </a:rPr>
              <a:t>. D(.): Decoder - reconstructs the motion sequence from the quantized vector.</a:t>
            </a:r>
          </a:p>
          <a:p>
            <a:pPr algn="l">
              <a:lnSpc>
                <a:spcPts val="3780"/>
              </a:lnSpc>
              <a:spcBef>
                <a:spcPct val="0"/>
              </a:spcBef>
            </a:pPr>
            <a:r>
              <a:rPr lang="en-US" b="true" sz="2700">
                <a:solidFill>
                  <a:srgbClr val="3F3D3E"/>
                </a:solidFill>
                <a:latin typeface="Alexandria Bold"/>
                <a:ea typeface="Alexandria Bold"/>
                <a:cs typeface="Alexandria Bold"/>
                <a:sym typeface="Alexandria Bold"/>
              </a:rPr>
              <a:t>· î: Reconstructed (predicted) motion sequence.</a:t>
            </a:r>
          </a:p>
          <a:p>
            <a:pPr algn="l">
              <a:lnSpc>
                <a:spcPts val="3780"/>
              </a:lnSpc>
              <a:spcBef>
                <a:spcPct val="0"/>
              </a:spcBef>
            </a:pPr>
            <a:r>
              <a:rPr lang="en-US" b="true" sz="2700">
                <a:solidFill>
                  <a:srgbClr val="3F3D3E"/>
                </a:solidFill>
                <a:latin typeface="Alexandria Bold"/>
                <a:ea typeface="Alexandria Bold"/>
                <a:cs typeface="Alexandria Bold"/>
                <a:sym typeface="Alexandria Bold"/>
              </a:rPr>
              <a:t>. Lrec: Reconstruction loss (Mean Squared Error), ensures the decoded motion matches the original.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4359816" y="4494896"/>
            <a:ext cx="5398316" cy="1475316"/>
          </a:xfrm>
          <a:custGeom>
            <a:avLst/>
            <a:gdLst/>
            <a:ahLst/>
            <a:cxnLst/>
            <a:rect r="r" b="b" t="t" l="l"/>
            <a:pathLst>
              <a:path h="1475316" w="5398316">
                <a:moveTo>
                  <a:pt x="0" y="0"/>
                </a:moveTo>
                <a:lnTo>
                  <a:pt x="5398316" y="0"/>
                </a:lnTo>
                <a:lnTo>
                  <a:pt x="5398316" y="1475316"/>
                </a:lnTo>
                <a:lnTo>
                  <a:pt x="0" y="1475316"/>
                </a:lnTo>
                <a:lnTo>
                  <a:pt x="0" y="0"/>
                </a:lnTo>
                <a:close/>
              </a:path>
            </a:pathLst>
          </a:custGeom>
          <a:blipFill>
            <a:blip r:embed="rId2"/>
            <a:stretch>
              <a:fillRect l="0" t="0" r="0" b="0"/>
            </a:stretch>
          </a:blipFill>
        </p:spPr>
      </p:sp>
      <p:sp>
        <p:nvSpPr>
          <p:cNvPr name="Freeform 3" id="3"/>
          <p:cNvSpPr/>
          <p:nvPr/>
        </p:nvSpPr>
        <p:spPr>
          <a:xfrm flipH="false" flipV="false" rot="0">
            <a:off x="3769992" y="3216121"/>
            <a:ext cx="4640253" cy="1259725"/>
          </a:xfrm>
          <a:custGeom>
            <a:avLst/>
            <a:gdLst/>
            <a:ahLst/>
            <a:cxnLst/>
            <a:rect r="r" b="b" t="t" l="l"/>
            <a:pathLst>
              <a:path h="1259725" w="4640253">
                <a:moveTo>
                  <a:pt x="0" y="0"/>
                </a:moveTo>
                <a:lnTo>
                  <a:pt x="4640253" y="0"/>
                </a:lnTo>
                <a:lnTo>
                  <a:pt x="4640253" y="1259725"/>
                </a:lnTo>
                <a:lnTo>
                  <a:pt x="0" y="1259725"/>
                </a:lnTo>
                <a:lnTo>
                  <a:pt x="0" y="0"/>
                </a:lnTo>
                <a:close/>
              </a:path>
            </a:pathLst>
          </a:custGeom>
          <a:blipFill>
            <a:blip r:embed="rId3"/>
            <a:stretch>
              <a:fillRect l="0" t="0" r="0" b="0"/>
            </a:stretch>
          </a:blipFill>
        </p:spPr>
      </p:sp>
      <p:sp>
        <p:nvSpPr>
          <p:cNvPr name="TextBox 4" id="4"/>
          <p:cNvSpPr txBox="true"/>
          <p:nvPr/>
        </p:nvSpPr>
        <p:spPr>
          <a:xfrm rot="0">
            <a:off x="3543354" y="904875"/>
            <a:ext cx="1118224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Mathematical Formulation</a:t>
            </a:r>
          </a:p>
        </p:txBody>
      </p:sp>
      <p:sp>
        <p:nvSpPr>
          <p:cNvPr name="TextBox 5" id="5"/>
          <p:cNvSpPr txBox="true"/>
          <p:nvPr/>
        </p:nvSpPr>
        <p:spPr>
          <a:xfrm rot="0">
            <a:off x="1850628" y="2519546"/>
            <a:ext cx="8330479" cy="1407795"/>
          </a:xfrm>
          <a:prstGeom prst="rect">
            <a:avLst/>
          </a:prstGeom>
        </p:spPr>
        <p:txBody>
          <a:bodyPr anchor="t" rtlCol="false" tIns="0" lIns="0" bIns="0" rIns="0">
            <a:spAutoFit/>
          </a:bodyPr>
          <a:lstStyle/>
          <a:p>
            <a:pPr algn="ctr">
              <a:lnSpc>
                <a:spcPts val="3779"/>
              </a:lnSpc>
              <a:spcBef>
                <a:spcPct val="0"/>
              </a:spcBef>
            </a:pPr>
            <a:r>
              <a:rPr lang="en-US" b="true" sz="2699">
                <a:solidFill>
                  <a:srgbClr val="3F3D3E"/>
                </a:solidFill>
                <a:latin typeface="Alexandria Bold"/>
                <a:ea typeface="Alexandria Bold"/>
                <a:cs typeface="Alexandria Bold"/>
                <a:sym typeface="Alexandria Bold"/>
              </a:rPr>
              <a:t>2 .Transformer (Text → Motion Code Translation)</a:t>
            </a:r>
          </a:p>
          <a:p>
            <a:pPr algn="l">
              <a:lnSpc>
                <a:spcPts val="3779"/>
              </a:lnSpc>
              <a:spcBef>
                <a:spcPct val="0"/>
              </a:spcBef>
            </a:pPr>
          </a:p>
          <a:p>
            <a:pPr algn="l">
              <a:lnSpc>
                <a:spcPts val="3779"/>
              </a:lnSpc>
              <a:spcBef>
                <a:spcPct val="0"/>
              </a:spcBef>
            </a:pPr>
            <a:r>
              <a:rPr lang="en-US" b="true" sz="2699">
                <a:solidFill>
                  <a:srgbClr val="3F3D3E"/>
                </a:solidFill>
                <a:latin typeface="Alexandria Bold"/>
                <a:ea typeface="Alexandria Bold"/>
                <a:cs typeface="Alexandria Bold"/>
                <a:sym typeface="Alexandria Bold"/>
              </a:rPr>
              <a:t>Equation:</a:t>
            </a:r>
          </a:p>
        </p:txBody>
      </p:sp>
      <p:sp>
        <p:nvSpPr>
          <p:cNvPr name="TextBox 6" id="6"/>
          <p:cNvSpPr txBox="true"/>
          <p:nvPr/>
        </p:nvSpPr>
        <p:spPr>
          <a:xfrm rot="0">
            <a:off x="1850628" y="4447271"/>
            <a:ext cx="2509188"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3F3D3E"/>
                </a:solidFill>
                <a:latin typeface="Alexandria Bold"/>
                <a:ea typeface="Alexandria Bold"/>
                <a:cs typeface="Alexandria Bold"/>
                <a:sym typeface="Alexandria Bold"/>
              </a:rPr>
              <a:t>Loss Function:</a:t>
            </a:r>
          </a:p>
        </p:txBody>
      </p:sp>
      <p:sp>
        <p:nvSpPr>
          <p:cNvPr name="TextBox 7" id="7"/>
          <p:cNvSpPr txBox="true"/>
          <p:nvPr/>
        </p:nvSpPr>
        <p:spPr>
          <a:xfrm rot="0">
            <a:off x="1850628" y="5945505"/>
            <a:ext cx="14562210" cy="3312795"/>
          </a:xfrm>
          <a:prstGeom prst="rect">
            <a:avLst/>
          </a:prstGeom>
        </p:spPr>
        <p:txBody>
          <a:bodyPr anchor="t" rtlCol="false" tIns="0" lIns="0" bIns="0" rIns="0">
            <a:spAutoFit/>
          </a:bodyPr>
          <a:lstStyle/>
          <a:p>
            <a:pPr algn="l">
              <a:lnSpc>
                <a:spcPts val="3779"/>
              </a:lnSpc>
            </a:pPr>
            <a:r>
              <a:rPr lang="en-US" sz="2699" b="true">
                <a:solidFill>
                  <a:srgbClr val="3F3D3E"/>
                </a:solidFill>
                <a:latin typeface="Alexandria Bold"/>
                <a:ea typeface="Alexandria Bold"/>
                <a:cs typeface="Alexandria Bold"/>
                <a:sym typeface="Alexandria Bold"/>
              </a:rPr>
              <a:t>where,</a:t>
            </a:r>
          </a:p>
          <a:p>
            <a:pPr algn="l" marL="582927" indent="-291463" lvl="1">
              <a:lnSpc>
                <a:spcPts val="3779"/>
              </a:lnSpc>
              <a:buFont typeface="Arial"/>
              <a:buChar char="•"/>
            </a:pPr>
            <a:r>
              <a:rPr lang="en-US" b="true" sz="2699">
                <a:solidFill>
                  <a:srgbClr val="3F3D3E"/>
                </a:solidFill>
                <a:latin typeface="Alexandria Bold"/>
                <a:ea typeface="Alexandria Bold"/>
                <a:cs typeface="Alexandria Bold"/>
                <a:sym typeface="Alexandria Bold"/>
              </a:rPr>
              <a:t>T: Input text sequence</a:t>
            </a:r>
          </a:p>
          <a:p>
            <a:pPr algn="l" marL="582927" indent="-291463" lvl="1">
              <a:lnSpc>
                <a:spcPts val="3779"/>
              </a:lnSpc>
              <a:buFont typeface="Arial"/>
              <a:buChar char="•"/>
            </a:pPr>
            <a:r>
              <a:rPr lang="en-US" b="true" sz="2699">
                <a:solidFill>
                  <a:srgbClr val="3F3D3E"/>
                </a:solidFill>
                <a:latin typeface="Alexandria Bold"/>
                <a:ea typeface="Alexandria Bold"/>
                <a:cs typeface="Alexandria Bold"/>
                <a:sym typeface="Alexandria Bold"/>
              </a:rPr>
              <a:t>C=[c1,c2,...,cn]:Sequence of motion codes predicted by the model.</a:t>
            </a:r>
          </a:p>
          <a:p>
            <a:pPr algn="l" marL="582927" indent="-291463" lvl="1">
              <a:lnSpc>
                <a:spcPts val="3779"/>
              </a:lnSpc>
              <a:buFont typeface="Arial"/>
              <a:buChar char="•"/>
            </a:pPr>
            <a:r>
              <a:rPr lang="en-US" b="true" sz="2699">
                <a:solidFill>
                  <a:srgbClr val="3F3D3E"/>
                </a:solidFill>
                <a:latin typeface="Alexandria Bold"/>
                <a:ea typeface="Alexandria Bold"/>
                <a:cs typeface="Alexandria Bold"/>
                <a:sym typeface="Alexandria Bold"/>
              </a:rPr>
              <a:t>ct: Motion code predicted at time step t.</a:t>
            </a:r>
          </a:p>
          <a:p>
            <a:pPr algn="l" marL="582927" indent="-291463" lvl="1">
              <a:lnSpc>
                <a:spcPts val="3779"/>
              </a:lnSpc>
              <a:buFont typeface="Arial"/>
              <a:buChar char="•"/>
            </a:pPr>
            <a:r>
              <a:rPr lang="en-US" b="true" sz="2699">
                <a:solidFill>
                  <a:srgbClr val="3F3D3E"/>
                </a:solidFill>
                <a:latin typeface="Alexandria Bold"/>
                <a:ea typeface="Alexandria Bold"/>
                <a:cs typeface="Alexandria Bold"/>
                <a:sym typeface="Alexandria Bold"/>
              </a:rPr>
              <a:t>c&lt;t​: All previous codes before time t.</a:t>
            </a:r>
          </a:p>
          <a:p>
            <a:pPr algn="l" marL="582927" indent="-291463" lvl="1">
              <a:lnSpc>
                <a:spcPts val="3779"/>
              </a:lnSpc>
              <a:buFont typeface="Arial"/>
              <a:buChar char="•"/>
            </a:pPr>
            <a:r>
              <a:rPr lang="en-US" b="true" sz="2699">
                <a:solidFill>
                  <a:srgbClr val="3F3D3E"/>
                </a:solidFill>
                <a:latin typeface="Alexandria Bold"/>
                <a:ea typeface="Alexandria Bold"/>
                <a:cs typeface="Alexandria Bold"/>
                <a:sym typeface="Alexandria Bold"/>
              </a:rPr>
              <a:t>P(C∣T): Probability of generating the correct motion code sequence given text..</a:t>
            </a:r>
          </a:p>
          <a:p>
            <a:pPr algn="l" marL="582927" indent="-291463" lvl="1">
              <a:lnSpc>
                <a:spcPts val="3779"/>
              </a:lnSpc>
              <a:buFont typeface="Arial"/>
              <a:buChar char="•"/>
            </a:pPr>
            <a:r>
              <a:rPr lang="en-US" b="true" sz="2699">
                <a:solidFill>
                  <a:srgbClr val="3F3D3E"/>
                </a:solidFill>
                <a:latin typeface="Alexandria Bold"/>
                <a:ea typeface="Alexandria Bold"/>
                <a:cs typeface="Alexandria Bold"/>
                <a:sym typeface="Alexandria Bold"/>
              </a:rPr>
              <a:t>Ltrans​: Cross-Entropy Loss, measures translation accuracy.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3979515" y="2945481"/>
            <a:ext cx="6335740" cy="997937"/>
          </a:xfrm>
          <a:custGeom>
            <a:avLst/>
            <a:gdLst/>
            <a:ahLst/>
            <a:cxnLst/>
            <a:rect r="r" b="b" t="t" l="l"/>
            <a:pathLst>
              <a:path h="997937" w="6335740">
                <a:moveTo>
                  <a:pt x="0" y="0"/>
                </a:moveTo>
                <a:lnTo>
                  <a:pt x="6335740" y="0"/>
                </a:lnTo>
                <a:lnTo>
                  <a:pt x="6335740" y="997937"/>
                </a:lnTo>
                <a:lnTo>
                  <a:pt x="0" y="997937"/>
                </a:lnTo>
                <a:lnTo>
                  <a:pt x="0" y="0"/>
                </a:lnTo>
                <a:close/>
              </a:path>
            </a:pathLst>
          </a:custGeom>
          <a:blipFill>
            <a:blip r:embed="rId2"/>
            <a:stretch>
              <a:fillRect l="0" t="0" r="0" b="0"/>
            </a:stretch>
          </a:blipFill>
        </p:spPr>
      </p:sp>
      <p:sp>
        <p:nvSpPr>
          <p:cNvPr name="Freeform 3" id="3"/>
          <p:cNvSpPr/>
          <p:nvPr/>
        </p:nvSpPr>
        <p:spPr>
          <a:xfrm flipH="false" flipV="false" rot="0">
            <a:off x="4482092" y="3943418"/>
            <a:ext cx="6918135" cy="886446"/>
          </a:xfrm>
          <a:custGeom>
            <a:avLst/>
            <a:gdLst/>
            <a:ahLst/>
            <a:cxnLst/>
            <a:rect r="r" b="b" t="t" l="l"/>
            <a:pathLst>
              <a:path h="886446" w="6918135">
                <a:moveTo>
                  <a:pt x="0" y="0"/>
                </a:moveTo>
                <a:lnTo>
                  <a:pt x="6918136" y="0"/>
                </a:lnTo>
                <a:lnTo>
                  <a:pt x="6918136" y="886447"/>
                </a:lnTo>
                <a:lnTo>
                  <a:pt x="0" y="886447"/>
                </a:lnTo>
                <a:lnTo>
                  <a:pt x="0" y="0"/>
                </a:lnTo>
                <a:close/>
              </a:path>
            </a:pathLst>
          </a:custGeom>
          <a:blipFill>
            <a:blip r:embed="rId3"/>
            <a:stretch>
              <a:fillRect l="0" t="0" r="0" b="0"/>
            </a:stretch>
          </a:blipFill>
        </p:spPr>
      </p:sp>
      <p:sp>
        <p:nvSpPr>
          <p:cNvPr name="TextBox 4" id="4"/>
          <p:cNvSpPr txBox="true"/>
          <p:nvPr/>
        </p:nvSpPr>
        <p:spPr>
          <a:xfrm rot="0">
            <a:off x="3543354" y="904875"/>
            <a:ext cx="1118224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Mathematical Formulation</a:t>
            </a:r>
          </a:p>
        </p:txBody>
      </p:sp>
      <p:sp>
        <p:nvSpPr>
          <p:cNvPr name="TextBox 5" id="5"/>
          <p:cNvSpPr txBox="true"/>
          <p:nvPr/>
        </p:nvSpPr>
        <p:spPr>
          <a:xfrm rot="0">
            <a:off x="1069402" y="2323006"/>
            <a:ext cx="9245853"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3F3D3E"/>
                </a:solidFill>
                <a:latin typeface="Alexandria Bold"/>
                <a:ea typeface="Alexandria Bold"/>
                <a:cs typeface="Alexandria Bold"/>
                <a:sym typeface="Alexandria Bold"/>
              </a:rPr>
              <a:t>3.GAN (Pose Refinement and Realism Enhancement)</a:t>
            </a:r>
          </a:p>
        </p:txBody>
      </p:sp>
      <p:sp>
        <p:nvSpPr>
          <p:cNvPr name="TextBox 6" id="6"/>
          <p:cNvSpPr txBox="true"/>
          <p:nvPr/>
        </p:nvSpPr>
        <p:spPr>
          <a:xfrm rot="0">
            <a:off x="1069402" y="3192990"/>
            <a:ext cx="2705317"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3F3D3E"/>
                </a:solidFill>
                <a:latin typeface="Alexandria Bold"/>
                <a:ea typeface="Alexandria Bold"/>
                <a:cs typeface="Alexandria Bold"/>
                <a:sym typeface="Alexandria Bold"/>
              </a:rPr>
              <a:t>Generator Loss:</a:t>
            </a:r>
          </a:p>
        </p:txBody>
      </p:sp>
      <p:sp>
        <p:nvSpPr>
          <p:cNvPr name="TextBox 7" id="7"/>
          <p:cNvSpPr txBox="true"/>
          <p:nvPr/>
        </p:nvSpPr>
        <p:spPr>
          <a:xfrm rot="0">
            <a:off x="1028700" y="4067243"/>
            <a:ext cx="3453392"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3F3D3E"/>
                </a:solidFill>
                <a:latin typeface="Alexandria Bold"/>
                <a:ea typeface="Alexandria Bold"/>
                <a:cs typeface="Alexandria Bold"/>
                <a:sym typeface="Alexandria Bold"/>
              </a:rPr>
              <a:t>Discriminator Loss:</a:t>
            </a:r>
          </a:p>
        </p:txBody>
      </p:sp>
      <p:sp>
        <p:nvSpPr>
          <p:cNvPr name="TextBox 8" id="8"/>
          <p:cNvSpPr txBox="true"/>
          <p:nvPr/>
        </p:nvSpPr>
        <p:spPr>
          <a:xfrm rot="0">
            <a:off x="1069402" y="4953690"/>
            <a:ext cx="12263979" cy="3789045"/>
          </a:xfrm>
          <a:prstGeom prst="rect">
            <a:avLst/>
          </a:prstGeom>
        </p:spPr>
        <p:txBody>
          <a:bodyPr anchor="t" rtlCol="false" tIns="0" lIns="0" bIns="0" rIns="0">
            <a:spAutoFit/>
          </a:bodyPr>
          <a:lstStyle/>
          <a:p>
            <a:pPr algn="l">
              <a:lnSpc>
                <a:spcPts val="3779"/>
              </a:lnSpc>
              <a:spcBef>
                <a:spcPct val="0"/>
              </a:spcBef>
            </a:pPr>
            <a:r>
              <a:rPr lang="en-US" b="true" sz="2699">
                <a:solidFill>
                  <a:srgbClr val="3F3D3E"/>
                </a:solidFill>
                <a:latin typeface="Alexandria Bold"/>
                <a:ea typeface="Alexandria Bold"/>
                <a:cs typeface="Alexandria Bold"/>
                <a:sym typeface="Alexandria Bold"/>
              </a:rPr>
              <a:t>Where:</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X: Generated (robotic) pose sequence from VQ-VAE + Transformer.</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Y: Real pose sequence from dataset.</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G(X): Generator output — refined pose sequence.</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D(⋅): Discriminator — distinguishes between real and refined poses.</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Ladv​: Adversarial loss encouraging realism.</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L1​(G(X),Y): L1 reconstruction loss maintaining semantic accuracy.</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λ: Weight balancing realism and content preservation.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2846669" y="3185618"/>
            <a:ext cx="5321513" cy="715491"/>
          </a:xfrm>
          <a:custGeom>
            <a:avLst/>
            <a:gdLst/>
            <a:ahLst/>
            <a:cxnLst/>
            <a:rect r="r" b="b" t="t" l="l"/>
            <a:pathLst>
              <a:path h="715491" w="5321513">
                <a:moveTo>
                  <a:pt x="0" y="0"/>
                </a:moveTo>
                <a:lnTo>
                  <a:pt x="5321513" y="0"/>
                </a:lnTo>
                <a:lnTo>
                  <a:pt x="5321513" y="715491"/>
                </a:lnTo>
                <a:lnTo>
                  <a:pt x="0" y="715491"/>
                </a:lnTo>
                <a:lnTo>
                  <a:pt x="0" y="0"/>
                </a:lnTo>
                <a:close/>
              </a:path>
            </a:pathLst>
          </a:custGeom>
          <a:blipFill>
            <a:blip r:embed="rId2"/>
            <a:stretch>
              <a:fillRect l="0" t="0" r="0" b="-14620"/>
            </a:stretch>
          </a:blipFill>
        </p:spPr>
      </p:sp>
      <p:sp>
        <p:nvSpPr>
          <p:cNvPr name="TextBox 3" id="3"/>
          <p:cNvSpPr txBox="true"/>
          <p:nvPr/>
        </p:nvSpPr>
        <p:spPr>
          <a:xfrm rot="0">
            <a:off x="3543354" y="904875"/>
            <a:ext cx="1118224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Mathematical Formulation</a:t>
            </a:r>
          </a:p>
        </p:txBody>
      </p:sp>
      <p:sp>
        <p:nvSpPr>
          <p:cNvPr name="TextBox 4" id="4"/>
          <p:cNvSpPr txBox="true"/>
          <p:nvPr/>
        </p:nvSpPr>
        <p:spPr>
          <a:xfrm rot="0">
            <a:off x="1028700" y="2506692"/>
            <a:ext cx="7746639"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3F3D3E"/>
                </a:solidFill>
                <a:latin typeface="Alexandria Bold"/>
                <a:ea typeface="Alexandria Bold"/>
                <a:cs typeface="Alexandria Bold"/>
                <a:sym typeface="Alexandria Bold"/>
              </a:rPr>
              <a:t>4.Diffusion Refiner (Denoising &amp; Smoothing)</a:t>
            </a:r>
          </a:p>
        </p:txBody>
      </p:sp>
      <p:sp>
        <p:nvSpPr>
          <p:cNvPr name="TextBox 5" id="5"/>
          <p:cNvSpPr txBox="true"/>
          <p:nvPr/>
        </p:nvSpPr>
        <p:spPr>
          <a:xfrm rot="0">
            <a:off x="1028700" y="3495738"/>
            <a:ext cx="1817969"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3F3D3E"/>
                </a:solidFill>
                <a:latin typeface="Alexandria Bold"/>
                <a:ea typeface="Alexandria Bold"/>
                <a:cs typeface="Alexandria Bold"/>
                <a:sym typeface="Alexandria Bold"/>
              </a:rPr>
              <a:t>Equation:</a:t>
            </a:r>
          </a:p>
        </p:txBody>
      </p:sp>
      <p:sp>
        <p:nvSpPr>
          <p:cNvPr name="TextBox 6" id="6"/>
          <p:cNvSpPr txBox="true"/>
          <p:nvPr/>
        </p:nvSpPr>
        <p:spPr>
          <a:xfrm rot="0">
            <a:off x="1028700" y="4823791"/>
            <a:ext cx="14235546" cy="2360295"/>
          </a:xfrm>
          <a:prstGeom prst="rect">
            <a:avLst/>
          </a:prstGeom>
        </p:spPr>
        <p:txBody>
          <a:bodyPr anchor="t" rtlCol="false" tIns="0" lIns="0" bIns="0" rIns="0">
            <a:spAutoFit/>
          </a:bodyPr>
          <a:lstStyle/>
          <a:p>
            <a:pPr algn="l">
              <a:lnSpc>
                <a:spcPts val="3779"/>
              </a:lnSpc>
              <a:spcBef>
                <a:spcPct val="0"/>
              </a:spcBef>
            </a:pPr>
            <a:r>
              <a:rPr lang="en-US" b="true" sz="2699">
                <a:solidFill>
                  <a:srgbClr val="3F3D3E"/>
                </a:solidFill>
                <a:latin typeface="Alexandria Bold"/>
                <a:ea typeface="Alexandria Bold"/>
                <a:cs typeface="Alexandria Bold"/>
                <a:sym typeface="Alexandria Bold"/>
              </a:rPr>
              <a:t>Where:</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Xnoisy​: “Noisy” or “robotic” motion sequence generated from VQ-VAE.</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Xclean​: Ground-truth clean motion from dataset.</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R(⋅): Refiner (Denoising Autoencoder) network that predicts the clean motion.</a:t>
            </a:r>
          </a:p>
          <a:p>
            <a:pPr algn="l" marL="582928" indent="-291464" lvl="1">
              <a:lnSpc>
                <a:spcPts val="3779"/>
              </a:lnSpc>
              <a:buFont typeface="Arial"/>
              <a:buChar char="•"/>
            </a:pPr>
            <a:r>
              <a:rPr lang="en-US" b="true" sz="2699">
                <a:solidFill>
                  <a:srgbClr val="3F3D3E"/>
                </a:solidFill>
                <a:latin typeface="Alexandria Bold"/>
                <a:ea typeface="Alexandria Bold"/>
                <a:cs typeface="Alexandria Bold"/>
                <a:sym typeface="Alexandria Bold"/>
              </a:rPr>
              <a:t>LDAE​: L1 loss ensuring minimal difference between refined and real motion.</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2211315" y="1999616"/>
            <a:ext cx="14444544" cy="6858000"/>
          </a:xfrm>
          <a:prstGeom prst="rect">
            <a:avLst/>
          </a:prstGeom>
        </p:spPr>
        <p:txBody>
          <a:bodyPr anchor="t" rtlCol="false" tIns="0" lIns="0" bIns="0" rIns="0">
            <a:spAutoFit/>
          </a:bodyPr>
          <a:lstStyle/>
          <a:p>
            <a:pPr algn="l">
              <a:lnSpc>
                <a:spcPts val="3600"/>
              </a:lnSpc>
              <a:spcBef>
                <a:spcPct val="0"/>
              </a:spcBef>
            </a:pPr>
          </a:p>
          <a:p>
            <a:pPr algn="l">
              <a:lnSpc>
                <a:spcPts val="3600"/>
              </a:lnSpc>
              <a:spcBef>
                <a:spcPct val="0"/>
              </a:spcBef>
            </a:pPr>
            <a:r>
              <a:rPr lang="en-US" b="true" sz="3000">
                <a:solidFill>
                  <a:srgbClr val="3F3D3E"/>
                </a:solidFill>
                <a:latin typeface="Alexandria Bold"/>
                <a:ea typeface="Alexandria Bold"/>
                <a:cs typeface="Alexandria Bold"/>
                <a:sym typeface="Alexandria Bold"/>
              </a:rPr>
              <a:t>Dataset Requirements:</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Large paired datasets of text/audio ↔ gloss ↔ motion capture of signers.</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Synthetic augmentation to cover low-resource signs.</a:t>
            </a:r>
          </a:p>
          <a:p>
            <a:pPr algn="l">
              <a:lnSpc>
                <a:spcPts val="3600"/>
              </a:lnSpc>
            </a:pPr>
          </a:p>
          <a:p>
            <a:pPr algn="l">
              <a:lnSpc>
                <a:spcPts val="3600"/>
              </a:lnSpc>
              <a:spcBef>
                <a:spcPct val="0"/>
              </a:spcBef>
            </a:pPr>
            <a:r>
              <a:rPr lang="en-US" b="true" sz="3000">
                <a:solidFill>
                  <a:srgbClr val="3F3D3E"/>
                </a:solidFill>
                <a:latin typeface="Alexandria Bold"/>
                <a:ea typeface="Alexandria Bold"/>
                <a:cs typeface="Alexandria Bold"/>
                <a:sym typeface="Alexandria Bold"/>
              </a:rPr>
              <a:t>Pipeline Execution Order:</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Speech/Text → VQ-VAE Decoder → Motion Code Sequence</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Motion Codes → Transformer → Preliminary Pose Sequence</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Preliminary Poses → GAN/Diffusion Refiner → Realistic Human-like</a:t>
            </a:r>
            <a:r>
              <a:rPr lang="en-US" sz="3000">
                <a:solidFill>
                  <a:srgbClr val="3F3D3E"/>
                </a:solidFill>
                <a:latin typeface="Alexandria"/>
                <a:ea typeface="Alexandria"/>
                <a:cs typeface="Alexandria"/>
                <a:sym typeface="Alexandria"/>
              </a:rPr>
              <a:t> Motion</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Refined Motion → Avatar Renderer → Final Sign Language Animation</a:t>
            </a:r>
          </a:p>
          <a:p>
            <a:pPr algn="l">
              <a:lnSpc>
                <a:spcPts val="3600"/>
              </a:lnSpc>
            </a:pPr>
          </a:p>
          <a:p>
            <a:pPr algn="l">
              <a:lnSpc>
                <a:spcPts val="3600"/>
              </a:lnSpc>
              <a:spcBef>
                <a:spcPct val="0"/>
              </a:spcBef>
            </a:pPr>
            <a:r>
              <a:rPr lang="en-US" b="true" sz="3000">
                <a:solidFill>
                  <a:srgbClr val="3F3D3E"/>
                </a:solidFill>
                <a:latin typeface="Alexandria Bold"/>
                <a:ea typeface="Alexandria Bold"/>
                <a:cs typeface="Alexandria Bold"/>
                <a:sym typeface="Alexandria Bold"/>
              </a:rPr>
              <a:t>Performance Metrics:</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Translation accuracy (BLEU/ROUGE for text–gloss).</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Realism (FID score for generated avatar).</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User study (intelligibility + naturalness rated by Deaf community).</a:t>
            </a:r>
          </a:p>
        </p:txBody>
      </p:sp>
      <p:sp>
        <p:nvSpPr>
          <p:cNvPr name="TextBox 3" id="3"/>
          <p:cNvSpPr txBox="true"/>
          <p:nvPr/>
        </p:nvSpPr>
        <p:spPr>
          <a:xfrm rot="0">
            <a:off x="5737243" y="904875"/>
            <a:ext cx="6813514"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Implementation</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5145502" y="904875"/>
            <a:ext cx="7996996"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System Integration</a:t>
            </a:r>
          </a:p>
        </p:txBody>
      </p:sp>
      <p:sp>
        <p:nvSpPr>
          <p:cNvPr name="TextBox 3" id="3"/>
          <p:cNvSpPr txBox="true"/>
          <p:nvPr/>
        </p:nvSpPr>
        <p:spPr>
          <a:xfrm rot="0">
            <a:off x="1703405" y="2400300"/>
            <a:ext cx="15528846" cy="6858000"/>
          </a:xfrm>
          <a:prstGeom prst="rect">
            <a:avLst/>
          </a:prstGeom>
        </p:spPr>
        <p:txBody>
          <a:bodyPr anchor="t" rtlCol="false" tIns="0" lIns="0" bIns="0" rIns="0">
            <a:spAutoFit/>
          </a:bodyPr>
          <a:lstStyle/>
          <a:p>
            <a:pPr algn="l">
              <a:lnSpc>
                <a:spcPts val="3600"/>
              </a:lnSpc>
              <a:spcBef>
                <a:spcPct val="0"/>
              </a:spcBef>
            </a:pPr>
            <a:r>
              <a:rPr lang="en-US" b="true" sz="3000">
                <a:solidFill>
                  <a:srgbClr val="3F3D3E"/>
                </a:solidFill>
                <a:latin typeface="Alexandria Bold"/>
                <a:ea typeface="Alexandria Bold"/>
                <a:cs typeface="Alexandria Bold"/>
                <a:sym typeface="Alexandria Bold"/>
              </a:rPr>
              <a:t>Front-End Layer:</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Input: Text (ASR system).</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Output: 3D/2D avatar rendered in real-time.</a:t>
            </a:r>
          </a:p>
          <a:p>
            <a:pPr algn="l">
              <a:lnSpc>
                <a:spcPts val="3600"/>
              </a:lnSpc>
            </a:pPr>
          </a:p>
          <a:p>
            <a:pPr algn="l">
              <a:lnSpc>
                <a:spcPts val="3600"/>
              </a:lnSpc>
              <a:spcBef>
                <a:spcPct val="0"/>
              </a:spcBef>
            </a:pPr>
            <a:r>
              <a:rPr lang="en-US" b="true" sz="3000">
                <a:solidFill>
                  <a:srgbClr val="3F3D3E"/>
                </a:solidFill>
                <a:latin typeface="Alexandria Bold"/>
                <a:ea typeface="Alexandria Bold"/>
                <a:cs typeface="Alexandria Bold"/>
                <a:sym typeface="Alexandria Bold"/>
              </a:rPr>
              <a:t>Model Integration Layer:</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Pipeline combining all 4 models sequentially.</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Optimized with ONNX/TensorRT for deployment.</a:t>
            </a:r>
          </a:p>
          <a:p>
            <a:pPr algn="l">
              <a:lnSpc>
                <a:spcPts val="3600"/>
              </a:lnSpc>
            </a:pPr>
          </a:p>
          <a:p>
            <a:pPr algn="l">
              <a:lnSpc>
                <a:spcPts val="3600"/>
              </a:lnSpc>
              <a:spcBef>
                <a:spcPct val="0"/>
              </a:spcBef>
            </a:pPr>
            <a:r>
              <a:rPr lang="en-US" b="true" sz="3000">
                <a:solidFill>
                  <a:srgbClr val="3F3D3E"/>
                </a:solidFill>
                <a:latin typeface="Alexandria Bold"/>
                <a:ea typeface="Alexandria Bold"/>
                <a:cs typeface="Alexandria Bold"/>
                <a:sym typeface="Alexandria Bold"/>
              </a:rPr>
              <a:t>Back-End Layer:</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Dataset management, cloud inference, user corrections, and updates.</a:t>
            </a:r>
          </a:p>
          <a:p>
            <a:pPr algn="l">
              <a:lnSpc>
                <a:spcPts val="3600"/>
              </a:lnSpc>
            </a:pPr>
          </a:p>
          <a:p>
            <a:pPr algn="l">
              <a:lnSpc>
                <a:spcPts val="3600"/>
              </a:lnSpc>
              <a:spcBef>
                <a:spcPct val="0"/>
              </a:spcBef>
            </a:pPr>
            <a:r>
              <a:rPr lang="en-US" b="true" sz="3000">
                <a:solidFill>
                  <a:srgbClr val="3F3D3E"/>
                </a:solidFill>
                <a:latin typeface="Alexandria Bold"/>
                <a:ea typeface="Alexandria Bold"/>
                <a:cs typeface="Alexandria Bold"/>
                <a:sym typeface="Alexandria Bold"/>
              </a:rPr>
              <a:t>Deployment Options:</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Web App: Browser-based for quick accessibility.</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Mobile App: Lightweight avatar rendering.</a:t>
            </a:r>
          </a:p>
          <a:p>
            <a:pPr algn="l" marL="647700" indent="-323850" lvl="1">
              <a:lnSpc>
                <a:spcPts val="3600"/>
              </a:lnSpc>
              <a:buFont typeface="Arial"/>
              <a:buChar char="•"/>
            </a:pPr>
            <a:r>
              <a:rPr lang="en-US" sz="3000">
                <a:solidFill>
                  <a:srgbClr val="3F3D3E"/>
                </a:solidFill>
                <a:latin typeface="Alexandria"/>
                <a:ea typeface="Alexandria"/>
                <a:cs typeface="Alexandria"/>
                <a:sym typeface="Alexandria"/>
              </a:rPr>
              <a:t>API Service: For integration into platforms like Zoom, MS Teams, or classrooms.</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3323684" y="4048759"/>
            <a:ext cx="1164063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Model Comparitive Analysis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aphicFrame>
        <p:nvGraphicFramePr>
          <p:cNvPr name="Object 2" id="2"/>
          <p:cNvGraphicFramePr/>
          <p:nvPr/>
        </p:nvGraphicFramePr>
        <p:xfrm>
          <a:off x="952293" y="636726"/>
          <a:ext cx="9429750" cy="6915150"/>
        </p:xfrm>
        <a:graphic>
          <a:graphicData uri="http://schemas.openxmlformats.org/presentationml/2006/ole">
            <p:oleObj imgW="11315700" imgH="8801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474259" y="1177093"/>
            <a:ext cx="17339482" cy="7932813"/>
          </a:xfrm>
          <a:custGeom>
            <a:avLst/>
            <a:gdLst/>
            <a:ahLst/>
            <a:cxnLst/>
            <a:rect r="r" b="b" t="t" l="l"/>
            <a:pathLst>
              <a:path h="7932813" w="17339482">
                <a:moveTo>
                  <a:pt x="0" y="0"/>
                </a:moveTo>
                <a:lnTo>
                  <a:pt x="17339482" y="0"/>
                </a:lnTo>
                <a:lnTo>
                  <a:pt x="17339482" y="7932814"/>
                </a:lnTo>
                <a:lnTo>
                  <a:pt x="0" y="7932814"/>
                </a:lnTo>
                <a:lnTo>
                  <a:pt x="0" y="0"/>
                </a:lnTo>
                <a:close/>
              </a:path>
            </a:pathLst>
          </a:custGeom>
          <a:blipFill>
            <a:blip r:embed="rId2"/>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0">
            <a:off x="735673" y="1685575"/>
            <a:ext cx="16816654" cy="6915849"/>
          </a:xfrm>
          <a:custGeom>
            <a:avLst/>
            <a:gdLst/>
            <a:ahLst/>
            <a:cxnLst/>
            <a:rect r="r" b="b" t="t" l="l"/>
            <a:pathLst>
              <a:path h="6915849" w="16816654">
                <a:moveTo>
                  <a:pt x="0" y="0"/>
                </a:moveTo>
                <a:lnTo>
                  <a:pt x="16816654" y="0"/>
                </a:lnTo>
                <a:lnTo>
                  <a:pt x="16816654" y="6915850"/>
                </a:lnTo>
                <a:lnTo>
                  <a:pt x="0" y="6915850"/>
                </a:lnTo>
                <a:lnTo>
                  <a:pt x="0" y="0"/>
                </a:lnTo>
                <a:close/>
              </a:path>
            </a:pathLst>
          </a:custGeom>
          <a:blipFill>
            <a:blip r:embed="rId2"/>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3323684" y="4048759"/>
            <a:ext cx="1164063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Model Comparitive Analysis</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E9E9E9"/>
        </a:solidFill>
      </p:bgPr>
    </p:bg>
    <p:spTree>
      <p:nvGrpSpPr>
        <p:cNvPr id="1" name=""/>
        <p:cNvGrpSpPr/>
        <p:nvPr/>
      </p:nvGrpSpPr>
      <p:grpSpPr>
        <a:xfrm>
          <a:off x="0" y="0"/>
          <a:ext cx="0" cy="0"/>
          <a:chOff x="0" y="0"/>
          <a:chExt cx="0" cy="0"/>
        </a:xfrm>
      </p:grpSpPr>
      <p:sp>
        <p:nvSpPr>
          <p:cNvPr name="TextBox 2" id="2"/>
          <p:cNvSpPr txBox="true"/>
          <p:nvPr/>
        </p:nvSpPr>
        <p:spPr>
          <a:xfrm rot="0">
            <a:off x="1028700" y="2932043"/>
            <a:ext cx="16230600" cy="5029200"/>
          </a:xfrm>
          <a:prstGeom prst="rect">
            <a:avLst/>
          </a:prstGeom>
        </p:spPr>
        <p:txBody>
          <a:bodyPr anchor="t" rtlCol="false" tIns="0" lIns="0" bIns="0" rIns="0">
            <a:spAutoFit/>
          </a:bodyPr>
          <a:lstStyle/>
          <a:p>
            <a:pPr algn="just">
              <a:lnSpc>
                <a:spcPts val="3600"/>
              </a:lnSpc>
              <a:spcBef>
                <a:spcPct val="0"/>
              </a:spcBef>
            </a:pPr>
            <a:r>
              <a:rPr lang="en-US" sz="3000">
                <a:solidFill>
                  <a:srgbClr val="3F3D3E"/>
                </a:solidFill>
                <a:latin typeface="Alexandria"/>
                <a:ea typeface="Alexandria"/>
                <a:cs typeface="Alexandria"/>
                <a:sym typeface="Alexandria"/>
              </a:rPr>
              <a:t>Previous research in sign language production has developed systems using speech-to-text with NLP and 3D avatars, or speech-driven avatars with gesture and facial animation. More advanced works such as SIGNGAN and SignDiff employed GANs and diffusion models to achieve more realistic outputs, but still faced challenges like jerky motion, limited facial synchronization, and reliance on a single model.</a:t>
            </a:r>
          </a:p>
          <a:p>
            <a:pPr algn="just">
              <a:lnSpc>
                <a:spcPts val="3600"/>
              </a:lnSpc>
              <a:spcBef>
                <a:spcPct val="0"/>
              </a:spcBef>
            </a:pPr>
          </a:p>
          <a:p>
            <a:pPr algn="just">
              <a:lnSpc>
                <a:spcPts val="3600"/>
              </a:lnSpc>
              <a:spcBef>
                <a:spcPct val="0"/>
              </a:spcBef>
            </a:pPr>
            <a:r>
              <a:rPr lang="en-US" sz="3000">
                <a:solidFill>
                  <a:srgbClr val="3F3D3E"/>
                </a:solidFill>
                <a:latin typeface="Alexandria"/>
                <a:ea typeface="Alexandria"/>
                <a:cs typeface="Alexandria"/>
                <a:sym typeface="Alexandria"/>
              </a:rPr>
              <a:t>In contrast, this project proposes a hybrid pipeline of four generative AI models—a Transformer for gloss translation, GAN/Diffusion for gesture generation, VAE for smoothing, and Pose Transformer for synchronization. This design ensures real-time, natural, and accurate avatar signing, addressing prior limitations and paving the way for future multi-lingual, VR/AR, and emotion-aware integration.</a:t>
            </a:r>
          </a:p>
        </p:txBody>
      </p:sp>
      <p:sp>
        <p:nvSpPr>
          <p:cNvPr name="TextBox 3" id="3"/>
          <p:cNvSpPr txBox="true"/>
          <p:nvPr/>
        </p:nvSpPr>
        <p:spPr>
          <a:xfrm rot="0">
            <a:off x="6824554" y="904875"/>
            <a:ext cx="4619842" cy="1094741"/>
          </a:xfrm>
          <a:prstGeom prst="rect">
            <a:avLst/>
          </a:prstGeom>
        </p:spPr>
        <p:txBody>
          <a:bodyPr anchor="t" rtlCol="false" tIns="0" lIns="0" bIns="0" rIns="0">
            <a:spAutoFit/>
          </a:bodyPr>
          <a:lstStyle/>
          <a:p>
            <a:pPr algn="ctr">
              <a:lnSpc>
                <a:spcPts val="8959"/>
              </a:lnSpc>
            </a:pPr>
            <a:r>
              <a:rPr lang="en-US" sz="6399" b="true">
                <a:solidFill>
                  <a:srgbClr val="3F3D3E"/>
                </a:solidFill>
                <a:latin typeface="Alexandria Bold"/>
                <a:ea typeface="Alexandria Bold"/>
                <a:cs typeface="Alexandria Bold"/>
                <a:sym typeface="Alexandria Bold"/>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DAG3uOMqmoI</dc:identifier>
  <dcterms:modified xsi:type="dcterms:W3CDTF">2011-08-01T06:04:30Z</dcterms:modified>
  <cp:revision>1</cp:revision>
  <dc:title>Copy of AI Sign Language Avatar Generator</dc:title>
</cp:coreProperties>
</file>